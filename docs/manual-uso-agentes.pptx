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4114800"/>
            <a:ext cx="4389120" cy="2743200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Plus Jakarta Sans"/>
              </a:defRPr>
            </a:pPr>
            <a:r>
              <a:t>VERTICALIS AI JOURNEY  /  EDUCATION  /  MANUAL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00"/>
              </a:lnSpc>
              <a:defRPr sz="4600" b="1">
                <a:solidFill>
                  <a:srgbClr val="FFFFFF"/>
                </a:solidFill>
                <a:latin typeface="Lora"/>
              </a:defRPr>
            </a:pPr>
            <a:r>
              <a:t>Como acionar os agentes</a:t>
            </a:r>
            <a:br/>
            <a:r>
              <a:t>no dia a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Plus Jakarta Sans"/>
              </a:defRPr>
            </a:pPr>
            <a:r>
              <a:t>Framework 5 Fases  •  Prompts copiaveis  •  Ritmos diario, semanal e por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D4C878"/>
                </a:solidFill>
                <a:latin typeface="Lora"/>
              </a:defRPr>
            </a:pPr>
            <a:r>
              <a:t>Da pergunta de pesquisa a defesa, sem voce se perder.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IBM Plex Mono"/>
              </a:defRPr>
            </a:pPr>
            <a:r>
              <a:t>Maio 2026  •  Confidencial  •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1E1E1E"/>
                </a:solidFill>
                <a:latin typeface="Plus Jakarta Sans"/>
              </a:defRPr>
            </a:pPr>
            <a:r>
              <a:t>Conteudo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Pre-requisito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O que voce precisa ter antes de comecar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12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Anatomia de uma chamada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128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Como conversar com um agente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96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968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Framework 5 FASES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968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Mapa do processo do INPUT ao POLIMENTO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809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Fase 1 —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09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academic-researcher + source-validator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6499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Fase 2 — Desenho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6499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methodology-advisor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Fase 3 — Digestao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4903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knowledge-architect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3308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Fase 4 — Producao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academic-writer + citation-manager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171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Fase 5 — Polimento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171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auditor + humanizer + peer-reviewer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3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90118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Ritmos de uso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90118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Diario, semanal, sprint, pre-submissao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8523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8523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Decision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28523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Qual agente usar quando voce nao sabe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669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Cheat 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Todos os prompts em uma pagina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0533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053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Roteiro de inicio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053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Seus primeiros 6 passos para destravar o uso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437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4373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Marcos + anti-padroes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64373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Como saber se esta progredindo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00"/>
              </a:lnSpc>
              <a:defRPr sz="3200" b="1">
                <a:solidFill>
                  <a:srgbClr val="FFFFFF"/>
                </a:solidFill>
                <a:latin typeface="Lora"/>
              </a:defRPr>
            </a:pPr>
            <a:r>
              <a:t>"Os agentes so funcionam se voce souber</a:t>
            </a:r>
            <a:br/>
            <a:r>
              <a:t>exatamente quando aciona-los."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46888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CCCCCC"/>
                </a:solidFill>
                <a:latin typeface="Plus Jakarta Sans"/>
              </a:defRPr>
            </a:pPr>
            <a:r>
              <a:t>Voce ja instalou os 9 agentes.</a:t>
            </a:r>
            <a:br/>
            <a:r>
              <a:t>O ambiente esta pronto.</a:t>
            </a:r>
            <a:br/>
            <a:r>
              <a:t>Falta o mais importante: o metodo.</a:t>
            </a:r>
            <a:br/>
            <a:br/>
            <a:r>
              <a:t>Sem metodo, voce vai usar o agente errado</a:t>
            </a:r>
            <a:br/>
            <a:r>
              <a:t>no momento errado e gastar dois meses</a:t>
            </a:r>
            <a:br/>
            <a:r>
              <a:t>tentando reparar uma decisao que custou</a:t>
            </a:r>
            <a:br/>
            <a:r>
              <a:t>5 minutos para tomar.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CCCCCC"/>
                </a:solidFill>
                <a:latin typeface="Plus Jakarta Sans"/>
              </a:defRPr>
            </a:pPr>
            <a:r>
              <a:t>Este manual oferece um framework simples</a:t>
            </a:r>
            <a:br/>
            <a:r>
              <a:t>de 5 fases que voce repete a cada</a:t>
            </a:r>
            <a:br/>
            <a:r>
              <a:t>ciclo da pesquisa.</a:t>
            </a:r>
            <a:br/>
            <a:br/>
            <a:r>
              <a:t>Cada fase tem agentes especificos,</a:t>
            </a:r>
            <a:br/>
            <a:r>
              <a:t>prompts copiaveis, e ritmos de uso</a:t>
            </a:r>
            <a:br/>
            <a:r>
              <a:t>(diario, semanal, sprint, pre-submissao)</a:t>
            </a:r>
            <a:br/>
            <a:r>
              <a:t>que se encaixam na sua rotina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D4C878"/>
                </a:solidFill>
                <a:latin typeface="Lora"/>
              </a:defRPr>
            </a:pPr>
            <a:r>
              <a:t>Metodo &gt; Ferramenta. O squad e o instrumento — voce e o pesquisador.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01  PRE-REQUISITO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Antes de continuar, valide a instalacao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Se algo aqui nao estiver pronto, volte para o INSTALL-FACIL.md.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468880"/>
            <a:ext cx="457200" cy="32004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96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414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Claude Code instalado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49631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App em claude.com/claude-code ou navegador em claude.ai/code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7180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3063240"/>
            <a:ext cx="457200" cy="32004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90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035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Squad instalado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9067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9 agentes em ~/.claude/agents/  (rode /agents para confirmar)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6616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3657600"/>
            <a:ext cx="457200" cy="32004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6850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301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Comando /study-setup 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6850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Em ~/.claude/commands/study-setup.md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16052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80160" y="4251960"/>
            <a:ext cx="457200" cy="32004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279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224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Pasta de trabalho criada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27939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Mestrado-{Tema}/ com arvore PARA + Zettelkasten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5488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80160" y="4846320"/>
            <a:ext cx="457200" cy="32004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8737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818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memory/ pre-preenchido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87375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5 arquivos: thesis, citation_style, voice, methodology,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349240"/>
            <a:ext cx="10515600" cy="502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80160" y="5440680"/>
            <a:ext cx="457200" cy="320040"/>
          </a:xfrm>
          <a:prstGeom prst="round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4681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132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Voice-humanizer calibrado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46811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lus Jakarta Sans"/>
              </a:defRPr>
            </a:pPr>
            <a:r>
              <a:t>Voce ja respondeu o questionario de 21 perguntas?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989320"/>
            <a:ext cx="10515600" cy="36576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6035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VALIDAR  •  Cole no Claude Code: /study-setup --check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Anatomia de uma chamada de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Tres formas de acionar + estrutura ideal de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657600" cy="155448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Mencao direta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3383280" cy="59436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Acione o {nome-do-agente} para...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Funciona em qualquer</a:t>
            </a:r>
            <a:br/>
            <a:r>
              <a:t>sessao Claude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06040"/>
            <a:ext cx="3657600" cy="155448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Slash 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08960"/>
            <a:ext cx="3383280" cy="59436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/agents &gt; escolher na 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Lista os agentes</a:t>
            </a:r>
            <a:br/>
            <a:r>
              <a:t>instalados.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606040"/>
            <a:ext cx="3657600" cy="155448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697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Contexto + tarefa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108960"/>
            <a:ext cx="3383280" cy="59436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246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Sou {nome}, trabalho com {tema}.</a:t>
            </a:r>
            <a:br/>
            <a:r>
              <a:t>Para este draft especifico...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34840"/>
            <a:ext cx="10515600" cy="18288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ESTRUTURA IDEAL DE UM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37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IBM Plex Mono"/>
              </a:defRPr>
            </a:pPr>
            <a:r>
              <a:t>AGENTE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37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lus Jakarta Sans"/>
              </a:defRPr>
            </a:pPr>
            <a:r>
              <a:t>academic-researcher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37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IBM Plex Mono"/>
              </a:defRPr>
            </a:pPr>
            <a:r>
              <a:t>TAREFA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937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lus Jakarta Sans"/>
              </a:defRPr>
            </a:pPr>
            <a:r>
              <a:t>buscar fontes recentes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532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IBM Plex Mono"/>
              </a:defRPr>
            </a:pPr>
            <a:r>
              <a:t>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lus Jakarta Sans"/>
              </a:defRPr>
            </a:pPr>
            <a:r>
              <a:t>tema X, periodo 2020-2026, em SciELO/Scholar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32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IBM Plex Mono"/>
              </a:defRPr>
            </a:pPr>
            <a:r>
              <a:t>SAIDA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lus Jakarta Sans"/>
              </a:defRPr>
            </a:pPr>
            <a:r>
              <a:t>lista priorizada com DOI verificavel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03  FRAMEWORK 5 FASES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Da pergunta a defesa, em ciclos repetiveis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Cada fase tem agentes especificos, output esperado e ritmo de execucao.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194560" cy="40233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19456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E1E1E"/>
                </a:solidFill>
                <a:latin typeface="Plus Jakarta San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Lora"/>
              </a:defRPr>
            </a:pPr>
            <a:r>
              <a:t>Capturar e validar fontes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640080" cy="12700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academic-researcher</a:t>
            </a:r>
            <a:br/>
            <a:r>
              <a:t>source-validator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RITMO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Diario</a:t>
            </a:r>
            <a:br/>
            <a:r>
              <a:t>Semanal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34640" y="406908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2286000"/>
            <a:ext cx="2194560" cy="40233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2286000"/>
            <a:ext cx="219456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3A564E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E1E1E"/>
                </a:solidFill>
                <a:latin typeface="Plus Jakarta Sans"/>
              </a:defRPr>
            </a:pPr>
            <a:r>
              <a:t>DESENHO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246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Lora"/>
              </a:defRPr>
            </a:pPr>
            <a:r>
              <a:t>Planejar metodologia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114800"/>
            <a:ext cx="640080" cy="12700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206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A564E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4348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486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A564E"/>
                </a:solidFill>
                <a:latin typeface="Plus Jakarta Sans"/>
              </a:defRPr>
            </a:pPr>
            <a:r>
              <a:t>RITMO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715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Inicio do projeto</a:t>
            </a:r>
            <a:br/>
            <a:r>
              <a:t>Qualificacao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66360" y="406908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0" y="2286000"/>
            <a:ext cx="2194560" cy="40233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0" y="2286000"/>
            <a:ext cx="219456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E1E1E"/>
                </a:solidFill>
                <a:latin typeface="Plus Jakarta Sans"/>
              </a:defRPr>
            </a:pPr>
            <a:r>
              <a:t>DIGESTAO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246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Lora"/>
              </a:defRPr>
            </a:pPr>
            <a:r>
              <a:t>Converter leitura em</a:t>
            </a:r>
            <a:br/>
            <a:r>
              <a:t>nota atomica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114800"/>
            <a:ext cx="640080" cy="12700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4206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4348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486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RITMO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5715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Diario</a:t>
            </a:r>
            <a:br/>
            <a:r>
              <a:t>apos cada leitura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98080" y="406908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2286000"/>
            <a:ext cx="2194560" cy="40233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2286000"/>
            <a:ext cx="219456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E1E1E"/>
                </a:solidFill>
                <a:latin typeface="Plus Jakarta Sans"/>
              </a:defRPr>
            </a:pPr>
            <a:r>
              <a:t>PRODUCAO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246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Lora"/>
              </a:defRPr>
            </a:pPr>
            <a:r>
              <a:t>Redigir capitulos</a:t>
            </a:r>
            <a:br/>
            <a:r>
              <a:t>a partir das notas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4114800"/>
            <a:ext cx="640080" cy="12700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4206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B2823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4348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academic-writer</a:t>
            </a:r>
            <a:br/>
            <a:r>
              <a:t>citation-manager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5486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B2823"/>
                </a:solidFill>
                <a:latin typeface="Plus Jakarta Sans"/>
              </a:defRPr>
            </a:pPr>
            <a:r>
              <a:t>RITMO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5715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Sprints de 1-2 semanas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829800" y="406908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966959" y="2286000"/>
            <a:ext cx="2194560" cy="40233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59" y="2286000"/>
            <a:ext cx="219456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39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6E43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39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E1E1E"/>
                </a:solidFill>
                <a:latin typeface="Plus Jakarta Sans"/>
              </a:defRPr>
            </a:pPr>
            <a:r>
              <a:t>POLIMENTO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39" y="3246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Lora"/>
              </a:defRPr>
            </a:pPr>
            <a:r>
              <a:t>Auditar, humanizar,</a:t>
            </a:r>
            <a:br/>
            <a:r>
              <a:t>simular banca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41279" y="4114800"/>
            <a:ext cx="640080" cy="12700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39" y="4206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39" y="44348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ai-pattern-auditor</a:t>
            </a:r>
            <a:br/>
            <a:r>
              <a:t>voice-humanizer</a:t>
            </a:r>
            <a:br/>
            <a:r>
              <a:t>peer-reviewer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39" y="5486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RITMO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39" y="5715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Antes de submeter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FASE 1 —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9144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IBM Plex Mono"/>
              </a:defRPr>
            </a:pPr>
            <a:r>
              <a:t>academic-researcher</a:t>
            </a:r>
            <a:br/>
            <a:r>
              <a:t>source-validator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2-3x por semana, ou</a:t>
            </a:r>
            <a:br/>
            <a:r>
              <a:t>quando o tema pede fontes</a:t>
            </a:r>
            <a:br/>
            <a:r>
              <a:t>novas (gap, nova vertente).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Plus Jakarta Sans"/>
              </a:defRPr>
            </a:pPr>
            <a:r>
              <a:t>PROMPT TEMPLATE  •  copie, ajuste e cole no 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246120"/>
            <a:ext cx="10515600" cy="141732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D4C878"/>
                </a:solidFill>
                <a:latin typeface="IBM Plex Mono"/>
              </a:defRPr>
            </a:pPr>
            <a:r>
              <a:t>Acione o academic-researcher para buscar fontes recentes</a:t>
            </a:r>
            <a:br/>
            <a:r>
              <a:t>(2020-2026) sobre {SEU TEMA} em SciELO, Scholar e CAPES.</a:t>
            </a:r>
            <a:br/>
            <a:r>
              <a:t>Foco em artigos com Qualis A1-B2. Retornar 8-12 fontes</a:t>
            </a:r>
            <a:br/>
            <a:r>
              <a:t>priorizadas com DOI verificavel.</a:t>
            </a:r>
            <a:br/>
            <a:br/>
            <a:r>
              <a:t>Em seguida, acione source-validator para auditar cada</a:t>
            </a:r>
            <a:br/>
            <a:r>
              <a:t>referencia retornada antes de eu salvar no biblio.bib.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✓ SAIDA ESPERADA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Lista em research/{data}/sources.md</a:t>
            </a:r>
            <a:br/>
            <a:r>
              <a:t>com 8-12 fontes (DOI, Qualis,</a:t>
            </a:r>
            <a:br/>
            <a:r>
              <a:t>resumo de 3 linhas, relevancia 1-5).</a:t>
            </a:r>
            <a:br/>
            <a:r>
              <a:t>Validacao com simbolos</a:t>
            </a:r>
            <a:br/>
            <a:r>
              <a:t>✓ / 🟡 / ❌ por afirmacao.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→ PROXIMO PASSO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1) Aprovar fontes ✓</a:t>
            </a:r>
            <a:br/>
            <a:r>
              <a:t>2) citation-manager: adicionar</a:t>
            </a:r>
            <a:br/>
            <a:r>
              <a:t>   .bib</a:t>
            </a:r>
            <a:br/>
            <a:r>
              <a:t>3) Mover PDFs aprovados</a:t>
            </a:r>
            <a:br/>
            <a:r>
              <a:t>   para Bibliografia/PDFs/</a:t>
            </a:r>
            <a:br/>
            <a:r>
              <a:t>4) knowledge-architect ficha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✗ ANTI-PADRAO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Aceitar lista sem rodar</a:t>
            </a:r>
            <a:br/>
            <a:r>
              <a:t>source-validator. IA pode</a:t>
            </a:r>
            <a:br/>
            <a:r>
              <a:t>alucinar DOI, ano e ate</a:t>
            </a:r>
            <a:br/>
            <a:r>
              <a:t>autor. Toda fonte tem que</a:t>
            </a:r>
            <a:br/>
            <a:r>
              <a:t>passar pelo gatekeeper.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Plus Jakarta Sans"/>
              </a:defRPr>
            </a:pPr>
            <a:r>
              <a:t>FASE 2 —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9144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920240"/>
            <a:ext cx="5120640" cy="9144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1E1E1E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5120640" cy="9144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No inicio do projeto.</a:t>
            </a:r>
            <a:br/>
            <a:r>
              <a:t>Reavaliacao apos qualificacao</a:t>
            </a:r>
            <a:br/>
            <a:r>
              <a:t>ou se mudar pergunta.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PROMPT TEMPLATE  •  copie, ajuste e cole no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46120"/>
            <a:ext cx="10515600" cy="141732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D4C878"/>
                </a:solidFill>
                <a:latin typeface="IBM Plex Mono"/>
              </a:defRPr>
            </a:pPr>
            <a:r>
              <a:t>methodology-advisor: minha pergunta de pesquisa e</a:t>
            </a:r>
            <a:br/>
            <a:r>
              <a:t>"{PERGUNTA}". Pretendo investigar {OBJETO}. Tenho</a:t>
            </a:r>
            <a:br/>
            <a:r>
              <a:t>{TEMPO} ate qualificacao e {RESTRICAO_DE_CAMPO}.</a:t>
            </a:r>
            <a:br/>
            <a:br/>
            <a:r>
              <a:t>Apresente 3 alternativas metodologicas (qual/quant/misto)</a:t>
            </a:r>
            <a:br/>
            <a:r>
              <a:t>com paradigma, instrumentos, autores canonicos e os</a:t>
            </a:r>
            <a:br/>
            <a:r>
              <a:t>3 pontos mais provaveis de critica da banca.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✓ SAIDA ESPERADA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3 alternativas comparadas:</a:t>
            </a:r>
            <a:br/>
            <a:r>
              <a:t>paradigma, estrategia, amostra,</a:t>
            </a:r>
            <a:br/>
            <a:r>
              <a:t>instrumentos, autores de</a:t>
            </a:r>
            <a:br/>
            <a:r>
              <a:t>referencia. Recomendacao</a:t>
            </a:r>
            <a:br/>
            <a:r>
              <a:t>final justificada em 5 linhas.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3A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→ PROXIMO PASSO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Voce escolhe uma.</a:t>
            </a:r>
            <a:br/>
            <a:r>
              <a:t>methodology-advisor preenche</a:t>
            </a:r>
            <a:br/>
            <a:r>
              <a:t>memory/project_methodology.md</a:t>
            </a:r>
            <a:br/>
            <a:r>
              <a:t>com paradigma + instrumentos +</a:t>
            </a:r>
            <a:br/>
            <a:r>
              <a:t>validade declarada.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✗ ANTI-PADRAO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Pedir "qual metodologia</a:t>
            </a:r>
            <a:br/>
            <a:r>
              <a:t>usar?" sem dar pergunta de</a:t>
            </a:r>
            <a:br/>
            <a:r>
              <a:t>pesquisa, restricoes e</a:t>
            </a:r>
            <a:br/>
            <a:r>
              <a:t>objetivos. O agente vai</a:t>
            </a:r>
            <a:br/>
            <a:r>
              <a:t>responder no vacuo.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FASE 3 — DIGESTAO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9144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A cada leitura concluida.</a:t>
            </a:r>
            <a:br/>
            <a:r>
              <a:t>Rito quinzenal de promocao</a:t>
            </a:r>
            <a:br/>
            <a:r>
              <a:t>de notas raw → connected.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Plus Jakarta Sans"/>
              </a:defRPr>
            </a:pPr>
            <a:r>
              <a:t>PROMPT TEMPLATE  •  copie, ajuste e cole no 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246120"/>
            <a:ext cx="10515600" cy="141732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D4C878"/>
                </a:solidFill>
                <a:latin typeface="IBM Plex Mono"/>
              </a:defRPr>
            </a:pPr>
            <a:r>
              <a:t>knowledge-architect: acabei de ler {AUTOR (ANO)}</a:t>
            </a:r>
            <a:br/>
            <a:r>
              <a:t>"{TITULO}". Aqui esta meu fichamento bruto:</a:t>
            </a:r>
            <a:br/>
            <a:br/>
            <a:r>
              <a:t>{COLE FICHAMENTO}</a:t>
            </a:r>
            <a:br/>
            <a:br/>
            <a:r>
              <a:t>Por favor:</a:t>
            </a:r>
            <a:br/>
            <a:r>
              <a:t>1) Crie as notas atomicas necessarias em</a:t>
            </a:r>
            <a:br/>
            <a:r>
              <a:t>   Notas-Atomicas/permanent/</a:t>
            </a:r>
            <a:br/>
            <a:r>
              <a:t>2) Linke bidirecionalmente com 2-5 notas existentes</a:t>
            </a:r>
            <a:br/>
            <a:r>
              <a:t>3) Atualize a MOC do tema se ja houver massa critica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✓ SAIDA ESPERADA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3-5 notas atomicas em</a:t>
            </a:r>
            <a:br/>
            <a:r>
              <a:t>Notas-Atomicas/permanent/</a:t>
            </a:r>
            <a:br/>
            <a:r>
              <a:t>{ts}-{slug}.md, cada uma com</a:t>
            </a:r>
            <a:br/>
            <a:r>
              <a:t>frontmatter YAML + 2 links</a:t>
            </a:r>
            <a:br/>
            <a:r>
              <a:t>bidirecionais minimos.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→ PROXIMO PASSO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Revisar links sugeridos</a:t>
            </a:r>
            <a:br/>
            <a:r>
              <a:t>(o agente as vezes erra).</a:t>
            </a:r>
            <a:br/>
            <a:r>
              <a:t>Promover status de raw para</a:t>
            </a:r>
            <a:br/>
            <a:r>
              <a:t>refined depois de 1 semana,</a:t>
            </a:r>
            <a:br/>
            <a:r>
              <a:t>para connected apos 2 links.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✗ ANTI-PADRAO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Aceitar nota com mais de</a:t>
            </a:r>
            <a:br/>
            <a:r>
              <a:t>uma ideia. Se tem dois</a:t>
            </a:r>
            <a:br/>
            <a:r>
              <a:t>argumentos independentes,</a:t>
            </a:r>
            <a:br/>
            <a:r>
              <a:t>PEDIR para dividir.</a:t>
            </a:r>
            <a:br/>
            <a:r>
              <a:t>Atomicidade e sagrada.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Plus Jakarta Sans"/>
              </a:defRPr>
            </a:pPr>
            <a:r>
              <a:t>FASE 4 — PRODUCAO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91440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920240"/>
            <a:ext cx="5120640" cy="9144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1E1E1E"/>
                </a:solidFill>
                <a:latin typeface="IBM Plex Mono"/>
              </a:defRPr>
            </a:pPr>
            <a:r>
              <a:t>academic-writer</a:t>
            </a:r>
            <a:br/>
            <a:r>
              <a:t>citation-manager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5120640" cy="9144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Sprints de redacao.</a:t>
            </a:r>
            <a:br/>
            <a:r>
              <a:t>Quando voce tiver 8-12 notas</a:t>
            </a:r>
            <a:br/>
            <a:r>
              <a:t>conectadas sobre um sub-tema.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PROMPT TEMPLATE  •  copie, ajuste e cole no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46120"/>
            <a:ext cx="10515600" cy="141732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D4C878"/>
                </a:solidFill>
                <a:latin typeface="IBM Plex Mono"/>
              </a:defRPr>
            </a:pPr>
            <a:r>
              <a:t>academic-writer: redija o esqueleto da secao 2.3 do meu</a:t>
            </a:r>
            <a:br/>
            <a:r>
              <a:t>capitulo 2, partindo destas notas atomicas conectadas:</a:t>
            </a:r>
            <a:br/>
            <a:r>
              <a:t>[[202604201430-poder-disciplinar]]</a:t>
            </a:r>
            <a:br/>
            <a:r>
              <a:t>[[202604180900-zuboff-vigilancia]]</a:t>
            </a:r>
            <a:br/>
            <a:r>
              <a:t>[[...]]</a:t>
            </a:r>
            <a:br/>
            <a:br/>
            <a:r>
              <a:t>Use estrutura tese &gt; evidencia &gt; contraponto &gt; sintese.</a:t>
            </a:r>
            <a:br/>
            <a:r>
              <a:t>Limite 1500 palavras. Marque [CITAR: ...] onde faltar fonte.</a:t>
            </a:r>
            <a:br/>
            <a:r>
              <a:t>Em seguida, citation-manager formata as referencias usadas.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✓ SAIDA ESPERADA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Rascunho .md em</a:t>
            </a:r>
            <a:br/>
            <a:r>
              <a:t>01_Projects/{atual}/drafts/</a:t>
            </a:r>
            <a:br/>
            <a:r>
              <a:t>com 1500 palavras, marcacoes</a:t>
            </a:r>
            <a:br/>
            <a:r>
              <a:t>[CITAR: ...] explicitas</a:t>
            </a:r>
            <a:br/>
            <a:r>
              <a:t>onde falta fonte.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0B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→ PROXIMO PASSO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1) Revisar onde aparece</a:t>
            </a:r>
            <a:br/>
            <a:r>
              <a:t>   [CITAR: ...]</a:t>
            </a:r>
            <a:br/>
            <a:r>
              <a:t>2) Acionar academic-researcher</a:t>
            </a:r>
            <a:br/>
            <a:r>
              <a:t>   para preencher</a:t>
            </a:r>
            <a:br/>
            <a:r>
              <a:t>3) Iterar 1-2x antes de</a:t>
            </a:r>
            <a:br/>
            <a:r>
              <a:t>   acionar fase 5 (polimento)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846320"/>
            <a:ext cx="3383280" cy="141732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✗ ANTI-PADRAO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Pedir o capitulo inteiro</a:t>
            </a:r>
            <a:br/>
            <a:r>
              <a:t>de uma vez. Quebre por</a:t>
            </a:r>
            <a:br/>
            <a:r>
              <a:t>secao (1.500-2.000 palavras).</a:t>
            </a:r>
            <a:br/>
            <a:r>
              <a:t>Cada secao iterada, depois</a:t>
            </a:r>
            <a:br/>
            <a:r>
              <a:t>costure. Resultado e melhor.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FASE 5 — POLIMENTO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91440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IBM Plex Mono"/>
              </a:defRPr>
            </a:pPr>
            <a:r>
              <a:t>ai-pattern-auditor</a:t>
            </a:r>
            <a:br/>
            <a:r>
              <a:t>voice-humanizer</a:t>
            </a:r>
            <a:br/>
            <a:r>
              <a:t>peer-reviewer</a:t>
            </a:r>
            <a:br/>
            <a:r>
              <a:t>(NESTA ORDEM)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120640" cy="9144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ANTES de qualquer</a:t>
            </a:r>
            <a:br/>
            <a:r>
              <a:t>submissao: orientador,</a:t>
            </a:r>
            <a:br/>
            <a:r>
              <a:t>banca, periodico.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Plus Jakarta Sans"/>
              </a:defRPr>
            </a:pPr>
            <a:r>
              <a:t>PROMPT TEMPLATE  •  copie, ajuste e cole no 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246120"/>
            <a:ext cx="10515600" cy="141732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D4C878"/>
                </a:solidFill>
                <a:latin typeface="IBM Plex Mono"/>
              </a:defRPr>
            </a:pPr>
            <a:r>
              <a:t># Sequencia obrigatoria — execute em ordem:</a:t>
            </a:r>
            <a:br/>
            <a:br/>
            <a:r>
              <a:t>1. source-validator: audite todas as citacoes do arquivo</a:t>
            </a:r>
            <a:br/>
            <a:r>
              <a:t>   drafts/cap2-secao3.md.</a:t>
            </a:r>
            <a:br/>
            <a:br/>
            <a:r>
              <a:t>2. ai-pattern-auditor: gere mapa de calor paragrafo a</a:t>
            </a:r>
            <a:br/>
            <a:r>
              <a:t>   paragrafo, comparando com memory/user_writing_voice.md</a:t>
            </a:r>
            <a:br/>
            <a:br/>
            <a:r>
              <a:t>3. voice-humanizer: reescreva os paragrafos 🔴 e 🟠</a:t>
            </a:r>
            <a:br/>
            <a:r>
              <a:t>   apontados pelo auditor, em colaboracao comigo.</a:t>
            </a:r>
            <a:br/>
            <a:br/>
            <a:r>
              <a:t>4. peer-reviewer: simule banca e gere 10 piores perguntas.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✓ SAIDA ESPERADA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Quatro outputs em sequencia:</a:t>
            </a:r>
            <a:br/>
            <a:r>
              <a:t>✓ validacao de citacoes</a:t>
            </a:r>
            <a:br/>
            <a:r>
              <a:t>✓ heatmap com score 0-10</a:t>
            </a:r>
            <a:br/>
            <a:r>
              <a:t>✓ draft reescrito na sua voz</a:t>
            </a:r>
            <a:br/>
            <a:r>
              <a:t>✓ relatorio peer + 10 perguntas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→ PROXIMO PASSO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Submeter ao orientador.</a:t>
            </a:r>
            <a:br/>
            <a:r>
              <a:t>Salvar peer-review/{data}.md</a:t>
            </a:r>
            <a:br/>
            <a:r>
              <a:t>como historico. Atualizar</a:t>
            </a:r>
            <a:br/>
            <a:r>
              <a:t>memory/banca_questions.md</a:t>
            </a:r>
            <a:br/>
            <a:r>
              <a:t>para preparar a defesa.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383280" cy="14173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✗ ANTI-PADRAO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Pular o auditor e ir direto</a:t>
            </a:r>
            <a:br/>
            <a:r>
              <a:t>ao humanizer. O auditor da</a:t>
            </a:r>
            <a:br/>
            <a:r>
              <a:t>FOCO para a reescrita —</a:t>
            </a:r>
            <a:br/>
            <a:r>
              <a:t>sem ele, voce reescreve</a:t>
            </a:r>
            <a:br/>
            <a:r>
              <a:t>no escuro e desperdica esforco.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04.1  RITMO DIARIO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30 minutos por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Constancia importa mais que volume. Faca pouco mas todo 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486400" cy="18288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4864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128016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0-5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24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E1E1E"/>
                </a:solidFill>
                <a:latin typeface="Plus Jakarta Sans"/>
              </a:defRPr>
            </a:pPr>
            <a:r>
              <a:t>Capturar no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Tudo que apareceu hoje: PDF, foto,</a:t>
            </a:r>
            <a:br/>
            <a:r>
              <a:t>snippet, audio. Sem julgamento.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IBM Plex Mono"/>
              </a:defRPr>
            </a:pPr>
            <a:r>
              <a:t>→ 00_Inbox/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5486400" cy="18288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54864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606040"/>
            <a:ext cx="1280160" cy="365760"/>
          </a:xfrm>
          <a:prstGeom prst="round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60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5-15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624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E1E1E"/>
                </a:solidFill>
                <a:latin typeface="Plus Jakarta Sans"/>
              </a:defRPr>
            </a:pPr>
            <a:r>
              <a:t>Daily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Templater no Obsidian gera nota do dia</a:t>
            </a:r>
            <a:br/>
            <a:r>
              <a:t>com data + ideias rapidas.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A564E"/>
                </a:solidFill>
                <a:latin typeface="IBM Plex Mono"/>
              </a:defRPr>
            </a:pPr>
            <a:r>
              <a:t>→ Templater plugin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79"/>
            <a:ext cx="5486400" cy="18288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79"/>
            <a:ext cx="54864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571999"/>
            <a:ext cx="1280160" cy="36576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2686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15-25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90287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E1E1E"/>
                </a:solidFill>
                <a:latin typeface="Plus Jakarta Sans"/>
              </a:defRPr>
            </a:pPr>
            <a:r>
              <a:t>1 nota atomica nova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knowledge-architect transforma a leitura</a:t>
            </a:r>
            <a:br/>
            <a:r>
              <a:t>do dia em pelo menos 1 nota.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499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IBM Plex Mono"/>
              </a:defRPr>
            </a:pPr>
            <a:r>
              <a:t>→ knowledge-architect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97679"/>
            <a:ext cx="5486400" cy="18288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297679"/>
            <a:ext cx="548640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571999"/>
            <a:ext cx="1280160" cy="36576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62686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25-30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590287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E1E1E"/>
                </a:solidFill>
                <a:latin typeface="Plus Jakarta Sans"/>
              </a:defRPr>
            </a:pPr>
            <a:r>
              <a:t>Revisar 1 nota antiga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749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Abra uma nota com status connected</a:t>
            </a:r>
            <a:br/>
            <a:r>
              <a:t>de &gt;30 dias. Atualize ou link com nova.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1499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D6E43"/>
                </a:solidFill>
                <a:latin typeface="IBM Plex Mono"/>
              </a:defRPr>
            </a:pPr>
            <a:r>
              <a:t>→ Notas-Atomicas/permanent/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6263640"/>
            <a:ext cx="10515600" cy="36576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3093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TOTAL  •  30 minutos  •  Idealmente sempre no mesmo horario do 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Ritmo SEMANAL — 1 hora aos domingos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Manutencao e consolidacao do que foi capturado durante 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105156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450592"/>
            <a:ext cx="868680" cy="45720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328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B2823"/>
                </a:solidFill>
                <a:latin typeface="IBM Plex Mono"/>
              </a:defRPr>
            </a:pPr>
            <a:r>
              <a:t>0-15min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4048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Esvaziar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7157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Cada item: arquivar, fichar ou descartar.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60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→ 00_Inbox/ → 03_Resources/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08960"/>
            <a:ext cx="105156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80160" y="3227832"/>
            <a:ext cx="868680" cy="45720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3101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B2823"/>
                </a:solidFill>
                <a:latin typeface="IBM Plex Mono"/>
              </a:defRPr>
            </a:pPr>
            <a:r>
              <a:t>15-30min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Atualizar biblio.bib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4930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citation-manager processa novas fontes</a:t>
            </a:r>
            <a:br/>
            <a:r>
              <a:t>do PDFs/ que ainda nao tem .bib.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337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→ citation-manager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886200"/>
            <a:ext cx="105156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4005072"/>
            <a:ext cx="868680" cy="45720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08736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B2823"/>
                </a:solidFill>
                <a:latin typeface="IBM Plex Mono"/>
              </a:defRPr>
            </a:pPr>
            <a:r>
              <a:t>30-45min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Promover notas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2702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raw (&gt;7 dias) → refined.</a:t>
            </a:r>
            <a:br/>
            <a:r>
              <a:t>refined com 2 links → connected.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114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→ Notas-Atomicas/permanent/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663440"/>
            <a:ext cx="105156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80160" y="4782312"/>
            <a:ext cx="868680" cy="45720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86460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B2823"/>
                </a:solidFill>
                <a:latin typeface="IBM Plex Mono"/>
              </a:defRPr>
            </a:pPr>
            <a:r>
              <a:t>45-55min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7365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Atualizar MOCs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0474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Se algum tema tem 8+ notas conectadas,</a:t>
            </a:r>
            <a:br/>
            <a:r>
              <a:t>crie ou atualize Map of Content.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892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→ Notas-Atomicas/index/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440679"/>
            <a:ext cx="105156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80160" y="5559551"/>
            <a:ext cx="868680" cy="45720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641847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B2823"/>
                </a:solidFill>
                <a:latin typeface="IBM Plex Mono"/>
              </a:defRPr>
            </a:pPr>
            <a:r>
              <a:t>55-60min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51383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Planejar a semana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82472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Definir prioridade da semana:</a:t>
            </a:r>
            <a:br/>
            <a:r>
              <a:t>leitura, redacao, fonte, peer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66927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→ 01_Projects/{atual}/README.md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04.3  RITMO POR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Plus Jakarta Sans"/>
              </a:defRPr>
            </a:pPr>
            <a:r>
              <a:t>Sprint de capitulo — 1 a 2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Quando voce decide redigir uma secao ou capitulo. Inicie quando ha massa critica de notas.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688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Selecionar notas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432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Escolher 8-12 notas atomicas</a:t>
            </a:r>
            <a:br/>
            <a:r>
              <a:t>conectadas sobre o tema da secao.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9184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knowledge-architect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37744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4688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Esqueleto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7432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academic-writer gera outline:</a:t>
            </a:r>
            <a:br/>
            <a:r>
              <a:t>tese de cada paragrafo + ordem.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29184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academic-writer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37744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37744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346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D3-D5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688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Redigir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Iterar redacao secao a secao.</a:t>
            </a:r>
            <a:br/>
            <a:r>
              <a:t>1500-2000 palavras por dia.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9184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academic-writer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0332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Audit de fontes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069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source-validator audita cada</a:t>
            </a:r>
            <a:br/>
            <a:r>
              <a:t>citacao do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6177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source-validator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70332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80560" y="370332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Mapa de 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069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ai-pattern-auditor gera heatmap.</a:t>
            </a:r>
            <a:br/>
            <a:r>
              <a:t>Identificar paragrafos 🔴.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6177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ai-pattern-auditor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70332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21040" y="370332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D8-D10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Humanizar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069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voice-humanizer reescreve</a:t>
            </a:r>
            <a:br/>
            <a:r>
              <a:t>focado nos 🔴 com sua voz.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6177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voice-humanizer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02920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502920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864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1206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Banca simulada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94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peer-reviewer aponta lacunas</a:t>
            </a:r>
            <a:br/>
            <a:r>
              <a:t>e 10 piores perguntas.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9436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peer-reviewer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502920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80560" y="502920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54864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51206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Iterar correcoes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394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Resolver criticas. Reaudit</a:t>
            </a:r>
            <a:br/>
            <a:r>
              <a:t>com auditor + voice se preciso.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9436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ciclo polimento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5029200"/>
            <a:ext cx="3657600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21040" y="5029200"/>
            <a:ext cx="868680" cy="11887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4864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D14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1206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Submeter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60" y="5394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4A4A4A"/>
                </a:solidFill>
                <a:latin typeface="Plus Jakarta Sans"/>
              </a:defRPr>
            </a:pPr>
            <a:r>
              <a:t>Versao final ao orientador</a:t>
            </a:r>
            <a:br/>
            <a:r>
              <a:t>ou periodico.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1160" y="59436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IBM Plex Mono"/>
              </a:defRPr>
            </a:pPr>
            <a:r>
              <a:t>→ GO!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Pre-submissao — checklist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Antes de enviar para banca, periodico ou orientador. NAO PULE NENHUMA.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32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957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source-validator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157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Toda citacao verificada (✓/🟡/❌). Zero alucinacoes.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32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957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ai-pattern-auditor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157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Score medio &lt; 4.0. Zero paragrafos 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729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voice-humanizer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930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Cada paragrafo voce defende em 30s oralmente.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310896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10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729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peer-reviewer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4930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10 piores perguntas listadas e respondidas.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8620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388620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873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9502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citation-manager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2702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biblio.bib formatado na norma exigida.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8620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388620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0873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9502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Leitura humana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2702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Voce releu integralmente. Soa como voce.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6344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466344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64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7274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Limites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Palavras, paginas, formato dentro da especificacao.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663440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663440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864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7274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Etica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CEP/CONEP aprovado se envolve humanos. TCLE incluido.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440679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440679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64184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504687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Anti-plagio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824727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Submeter a Turnitin/CopySpider. Score &lt; 15%.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5440679"/>
            <a:ext cx="5486400" cy="713232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5440679"/>
            <a:ext cx="64008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64184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IBM Plex Mono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504687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Backup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824727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Versao final salva em git e Drive antes de enviar.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05 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Plus Jakarta Sans"/>
              </a:defRPr>
            </a:pPr>
            <a:r>
              <a:t>Em duvida? Use este fluxograma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Pergunta inicial → resposta indica qual agente acionar agora.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6576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"Tenho duvida sobre o</a:t>
            </a:r>
            <a:br/>
            <a:r>
              <a:t>metodo da pesquisa?"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31720" y="3108960"/>
            <a:ext cx="274320" cy="164592"/>
          </a:xfrm>
          <a:prstGeom prst="downArrow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3A564E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33172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331720"/>
            <a:ext cx="3657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"Preciso de fontes</a:t>
            </a:r>
            <a:br/>
            <a:r>
              <a:t>novas sobre {tema}?"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172200" y="3108960"/>
            <a:ext cx="274320" cy="164592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IBM Plex Mono"/>
              </a:defRPr>
            </a:pPr>
            <a:r>
              <a:t>academic-researcher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33172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331720"/>
            <a:ext cx="3657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"Recebi texto de IA —</a:t>
            </a:r>
            <a:br/>
            <a:r>
              <a:t>posso confiar?"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012680" y="3108960"/>
            <a:ext cx="274320" cy="164592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IBM Plex Mono"/>
              </a:defRPr>
            </a:pPr>
            <a:r>
              <a:t>source-validator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49039"/>
            <a:ext cx="36576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19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"Acabei de ler um</a:t>
            </a:r>
            <a:br/>
            <a:r>
              <a:t>artigo importante."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331720" y="4526279"/>
            <a:ext cx="274320" cy="164592"/>
          </a:xfrm>
          <a:prstGeom prst="down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091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749039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749039"/>
            <a:ext cx="365760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931919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"Tenho 8+ notas conec-</a:t>
            </a:r>
            <a:br/>
            <a:r>
              <a:t>tadas, posso escrever?"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172200" y="4526279"/>
            <a:ext cx="274320" cy="164592"/>
          </a:xfrm>
          <a:prstGeom prst="downArrow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7091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academic-writer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749039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749039"/>
            <a:ext cx="3657600" cy="381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931919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"Como cito esta obra</a:t>
            </a:r>
            <a:br/>
            <a:r>
              <a:t>em ABNT?"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012680" y="4526279"/>
            <a:ext cx="274320" cy="164592"/>
          </a:xfrm>
          <a:prstGeom prst="down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7091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4A4A4A"/>
                </a:solidFill>
                <a:latin typeface="IBM Plex Mono"/>
              </a:defRPr>
            </a:pPr>
            <a:r>
              <a:t>citation-manager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6636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3657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492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"Texto pronto. Onde</a:t>
            </a:r>
            <a:br/>
            <a:r>
              <a:t>estao as marcas de IA?"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2331720" y="5943600"/>
            <a:ext cx="274320" cy="164592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126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IBM Plex Mono"/>
              </a:defRPr>
            </a:pPr>
            <a:r>
              <a:t>ai-pattern-auditor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516636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5166360"/>
            <a:ext cx="36576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3492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"Quero reescrever</a:t>
            </a:r>
            <a:br/>
            <a:r>
              <a:t>na minha voz."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6172200" y="5943600"/>
            <a:ext cx="274320" cy="164592"/>
          </a:xfrm>
          <a:prstGeom prst="down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6126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voice-humanizer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5166360"/>
            <a:ext cx="3657600" cy="1280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21040" y="5166360"/>
            <a:ext cx="365760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53492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E1E1E"/>
                </a:solidFill>
                <a:latin typeface="Lora"/>
              </a:defRPr>
            </a:pPr>
            <a:r>
              <a:t>"Vou submeter — qual</a:t>
            </a:r>
            <a:br/>
            <a:r>
              <a:t>a critica mais dura?"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0012680" y="5943600"/>
            <a:ext cx="274320" cy="164592"/>
          </a:xfrm>
          <a:prstGeom prst="downArrow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6126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2D6E43"/>
                </a:solidFill>
                <a:latin typeface="IBM Plex Mono"/>
              </a:defRPr>
            </a:pPr>
            <a:r>
              <a:t>peer-reviewer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Cheat sheet — todos os 9 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Imprimir e deixar perto do computador.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1430000" cy="36576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B2823"/>
                </a:solidFill>
                <a:latin typeface="Plus Jakarta Sans"/>
              </a:defRPr>
            </a:pPr>
            <a:r>
              <a:t>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95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B2823"/>
                </a:solidFill>
                <a:latin typeface="Plus Jakarta Sans"/>
              </a:defRPr>
            </a:pPr>
            <a:r>
              <a:t>QUANDO ACIONAR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9572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B2823"/>
                </a:solidFill>
                <a:latin typeface="Plus Jakarta Sans"/>
              </a:defRPr>
            </a:pPr>
            <a:r>
              <a:t>PROMPT-CHAVE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1430000" cy="384048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346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Inicio + qualif.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346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metodologia para {pergunta}, 3 alternativas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academic-researcher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186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Fontes novas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1868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buscar {tema} em SciELO/Scholar 2020-2026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11296"/>
            <a:ext cx="11430000" cy="384048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027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source-validator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027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Pos qualquer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0273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audite as citacoes deste arquivo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86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9867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Pos cada leitura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86784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fichar {autor (ano)} e gerar notas atomicas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79392"/>
            <a:ext cx="11430000" cy="384048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70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academic-writer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70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Sprint redacao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37083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redija secao X a partir destas notas: [[...]]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citation-manager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54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Toda nova fonte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754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adicione {DOI} ao biblio.bib em ABNT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47488"/>
            <a:ext cx="11430000" cy="384048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38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ai-pattern-auditor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138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Antes do humanizer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3892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mapa de calor de marcas de IA no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229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voice-humanizer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5229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1a sessao + pre-sub.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52297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aplicar questionario / humanizar 🔴 do auditor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15583"/>
            <a:ext cx="11430000" cy="384048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0702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peer-reviewer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90702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Antes da banca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907023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BM Plex Mono"/>
              </a:defRPr>
            </a:pPr>
            <a:r>
              <a:t>simule banca, 10 piores perguntas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07  ROTEIRO DE 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Plus Jakarta Sans"/>
              </a:defRPr>
            </a:pPr>
            <a:r>
              <a:t>Seus primeiros 6 passos, em ordem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Cada passo desbloqueia o seguinte. Pular um deles compromete todos os demais.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657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59152"/>
            <a:ext cx="4572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3957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414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Validar instalacao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Rode .\install.ps1 (Windows) ou ./install.sh (Mac/Linux).</a:t>
            </a:r>
            <a:br/>
            <a:r>
              <a:t>Abra Claude Code e digite /agents.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40"/>
            <a:ext cx="365760" cy="190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0392B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9 agentes aparecem em /agents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1945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194560"/>
            <a:ext cx="36576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2359152"/>
            <a:ext cx="457200" cy="384048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4140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23957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4414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30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346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Calibrar voz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54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Aplicar questionario do voice-humanizer.</a:t>
            </a:r>
            <a:br/>
            <a:r>
              <a:t>Ter 3 textos antigos seus + 1 mal-avaliado.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749040"/>
            <a:ext cx="365760" cy="1905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794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C5B358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77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memory/user_writing_voice.md preenchido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1945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2194560"/>
            <a:ext cx="36576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03920" y="2359152"/>
            <a:ext cx="457200" cy="384048"/>
          </a:xfrm>
          <a:prstGeom prst="round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4140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3957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4414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15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346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Definir tema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154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Editar memory/project_thesis.md substituindo</a:t>
            </a:r>
            <a:br/>
            <a:r>
              <a:t>placeholders pela pergunta de pesquisa real.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749040"/>
            <a:ext cx="365760" cy="1905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794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3A564E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77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Voce le e identifica pergunta + 3 objetivos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2519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251960"/>
            <a:ext cx="365760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4416552"/>
            <a:ext cx="457200" cy="38404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714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17320" y="44531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44988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1-2 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892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Primeiro ciclo 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212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researcher &gt; validator &gt; manager &gt; architect.</a:t>
            </a:r>
            <a:br/>
            <a:r>
              <a:t>5 fontes ate 5 notas atomicas linkadas.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5806440"/>
            <a:ext cx="365760" cy="1905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852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B2823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biblio.bib com 5 entradas + 3-5 notas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80560" y="42519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4251960"/>
            <a:ext cx="365760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663440" y="4416552"/>
            <a:ext cx="457200" cy="384048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44714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57800" y="44531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44988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30 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892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Instalar Obsidian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5212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Opcional mas muito recomendado.</a:t>
            </a:r>
            <a:br/>
            <a:r>
              <a:t>Seguir docs/obsidian-setup-guide.md.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5806440"/>
            <a:ext cx="365760" cy="1905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5852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2D6E43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Grafo (Ctrl+G) abre com 5+ notas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1040" y="4251960"/>
            <a:ext cx="3657600" cy="192024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4251960"/>
            <a:ext cx="3657600" cy="38100"/>
          </a:xfrm>
          <a:prstGeom prst="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03920" y="4416552"/>
            <a:ext cx="457200" cy="384048"/>
          </a:xfrm>
          <a:prstGeom prst="round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44714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453128"/>
            <a:ext cx="868680" cy="29260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44988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1 semana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892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Primeira mini-secao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5212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Sprint completo: writer &gt; validator &gt; auditor</a:t>
            </a:r>
            <a:br/>
            <a:r>
              <a:t>&gt; humanizer &gt; peer-reviewer (~1500 palavras).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5806440"/>
            <a:ext cx="365760" cy="19050"/>
          </a:xfrm>
          <a:prstGeom prst="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5852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D48B1F"/>
                </a:solidFill>
                <a:latin typeface="Plus Jakarta Sans"/>
              </a:defRPr>
            </a:pPr>
            <a:r>
              <a:t>PRONTO QUANDO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Voce defende cada paragrafo em 30s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Como saber se voce esta progredindo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Marcos de check-in pessoal + armadilhas comuns das primeiras 2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486400" cy="402336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5B358"/>
                </a:solidFill>
                <a:latin typeface="Plus Jakarta Sans"/>
              </a:defRPr>
            </a:pPr>
            <a:r>
              <a:t>✓ MARCOS DE PROGRESSO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Use como check-in pessoal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594360" cy="41148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D1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611880"/>
            <a:ext cx="25400" cy="1828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2644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lus Jakarta Sans"/>
              </a:defRPr>
            </a:pPr>
            <a:r>
              <a:t>Instalacao validada + voz calibrada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59436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67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D3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206240"/>
            <a:ext cx="25400" cy="1828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8587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lus Jakarta Sans"/>
              </a:defRPr>
            </a:pPr>
            <a:r>
              <a:t>Primeiro ciclo CODE em fontes reais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59436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D7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800600"/>
            <a:ext cx="25400" cy="1828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531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lus Jakarta Sans"/>
              </a:defRPr>
            </a:pPr>
            <a:r>
              <a:t>Primeira mini-secao (1500 palavras) auditada e humanizada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83480"/>
            <a:ext cx="59436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566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D14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394960"/>
            <a:ext cx="25400" cy="1828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0474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lus Jakarta Sans"/>
              </a:defRPr>
            </a:pPr>
            <a:r>
              <a:t>20+ notas atomicas no Zettelkasten + 1 MOC criado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59436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5099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B2823"/>
                </a:solidFill>
                <a:latin typeface="IBM Plex Mono"/>
              </a:defRPr>
            </a:pPr>
            <a:r>
              <a:t>D30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418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lus Jakarta Sans"/>
              </a:defRPr>
            </a:pPr>
            <a:r>
              <a:t>Capitulo curto (3-5 mil palavras) submetido ao orientador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331720"/>
            <a:ext cx="5486400" cy="402336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68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Plus Jakarta Sans"/>
              </a:defRPr>
            </a:pPr>
            <a:r>
              <a:t>✗ NAO FACA NAS PRIMEIRAS 2 SEMANAS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743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Erros que comprometem todo o resto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10896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12724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108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Pular calibracao de voz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355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Auditor + humanizer perdem 70% da precisao.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61188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301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611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voice-humanizer antes do auditor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8587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Reescreve no escuro. Sempre auditor primeiro.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11480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13308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114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Aceitar fontes sem validar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3616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DOI alucinado escapa direto para a banca.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61772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360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6177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Redigir capitulo inteiro de uma vez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8646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Quebre em secoes de 1500-2000 palavras.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12064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13892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1206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Mexer em memory/ durante execucao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367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Pode causar corrupcao de contexto do agente.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5623560"/>
            <a:ext cx="29260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64184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623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Nao atualizar feedback_writing.md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58704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Plus Jakarta Sans"/>
              </a:defRPr>
            </a:pPr>
            <a:r>
              <a:t>Voce corrige a mesma coisa toda semana.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Manual de Uso  |  Agent Study Assistant  |  Verticalis AI Journey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36576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Plus Jakarta Sans"/>
              </a:defRPr>
            </a:pPr>
            <a:r>
              <a:t>ACAO PARA OS PROXIMOS 30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Lora"/>
              </a:defRPr>
            </a:pPr>
            <a:r>
              <a:t>Comece pelo fundamento.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D4C878"/>
                </a:solidFill>
                <a:latin typeface="Lora"/>
              </a:defRPr>
            </a:pPr>
            <a:r>
              <a:t>Voce tem o squad. Voce tem o metodo. Falta dar o primeiro passo.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10515600" cy="128016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AGORA  •  abra o Claude Code e cole: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00400"/>
            <a:ext cx="9966960" cy="777240"/>
          </a:xfrm>
          <a:prstGeom prst="roundRect">
            <a:avLst/>
          </a:prstGeom>
          <a:solidFill>
            <a:srgbClr val="0B2823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400" b="0">
                <a:solidFill>
                  <a:srgbClr val="D4C878"/>
                </a:solidFill>
                <a:latin typeface="IBM Plex Mono"/>
              </a:defRPr>
            </a:pPr>
            <a:r>
              <a:t>Acione o voice-humanizer para aplicar o questionario inicial.</a:t>
            </a:r>
            <a:br/>
            <a:r>
              <a:t>Tenho 3 textos antigos meus para analise estilistica.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DEPOIS DESSA PRIMEIRA ACAO  •  siga o roteiro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Slide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663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Roteiro completo de 6 passos (5 min ate 1 semana)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29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Slide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029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Marcos D1 → D30 + 6 anti-padroes a evitar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5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Slide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39495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Cheat sheet imprimivel com os 9 agentes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760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Slide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760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Decision tree quando voce nao souber qual acionar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C878"/>
                </a:solidFill>
                <a:latin typeface="IBM Plex Mono"/>
              </a:defRPr>
            </a:pPr>
            <a:r>
              <a:t>Manual completo: github.com/byfabioviana/agent-study-assistant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537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Verticalis AI Journey  •  Education  •  Maio 2026  • 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