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0" y="4114800"/>
            <a:ext cx="4389120" cy="2743200"/>
          </a:xfrm>
          <a:prstGeom prst="rect">
            <a:avLst/>
          </a:prstGeom>
          <a:solidFill>
            <a:srgbClr val="2D4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D4C878"/>
                </a:solidFill>
                <a:latin typeface="Plus Jakarta Sans"/>
              </a:defRPr>
            </a:pPr>
            <a:r>
              <a:t>VERTICALIS AI JOURNEY  /  EDUCATION  /  MANUAL DE USO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011680"/>
            <a:ext cx="1097280" cy="381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400"/>
              </a:lnSpc>
              <a:defRPr sz="4600" b="1">
                <a:solidFill>
                  <a:srgbClr val="FFFFFF"/>
                </a:solidFill>
                <a:latin typeface="Lora"/>
              </a:defRPr>
            </a:pPr>
            <a:r>
              <a:t>Como acionar os agentes</a:t>
            </a:r>
            <a:br/>
            <a:r>
              <a:t>no dia a 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976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Plus Jakarta Sans"/>
              </a:defRPr>
            </a:pPr>
            <a:r>
              <a:t>Framework 5 Fases  •  Prompts copiaveis  •  Ritmos diario, semanal e por sprint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846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700" b="0">
                <a:solidFill>
                  <a:srgbClr val="D4C878"/>
                </a:solidFill>
                <a:latin typeface="Lora"/>
              </a:defRPr>
            </a:pPr>
            <a:r>
              <a:t>Da pergunta de pesquisa a defesa, sem voce se perder.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9436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IBM Plex Mono"/>
              </a:defRPr>
            </a:pPr>
            <a:r>
              <a:t>Maio 2026  •  Confidencial  •  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C5B358"/>
                </a:solidFill>
                <a:latin typeface="Plus Jakarta Sans"/>
              </a:defRPr>
            </a:pPr>
            <a:r>
              <a:t>INDICE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800" b="1">
                <a:solidFill>
                  <a:srgbClr val="1E1E1E"/>
                </a:solidFill>
                <a:latin typeface="Plus Jakarta Sans"/>
              </a:defRPr>
            </a:pPr>
            <a:r>
              <a:t>Conteudo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C5B358"/>
                </a:solidFill>
                <a:latin typeface="IBM Plex Mono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288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1">
                <a:solidFill>
                  <a:srgbClr val="1E1E1E"/>
                </a:solidFill>
                <a:latin typeface="Plus Jakarta Sans"/>
              </a:defRPr>
            </a:pPr>
            <a:r>
              <a:t>Pre-requisito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8288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Plus Jakarta Sans"/>
              </a:defRPr>
            </a:pPr>
            <a:r>
              <a:t>O que voce precisa ter antes de comecar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C5B358"/>
                </a:solidFill>
                <a:latin typeface="IBM Plex Mono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2128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1">
                <a:solidFill>
                  <a:srgbClr val="1E1E1E"/>
                </a:solidFill>
                <a:latin typeface="Plus Jakarta Sans"/>
              </a:defRPr>
            </a:pPr>
            <a:r>
              <a:t>Anatomia de uma chamada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21284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Plus Jakarta Sans"/>
              </a:defRPr>
            </a:pPr>
            <a:r>
              <a:t>Como conversar com um agente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96896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C5B358"/>
                </a:solidFill>
                <a:latin typeface="IBM Plex Mono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59689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1">
                <a:solidFill>
                  <a:srgbClr val="1E1E1E"/>
                </a:solidFill>
                <a:latin typeface="Plus Jakarta Sans"/>
              </a:defRPr>
            </a:pPr>
            <a:r>
              <a:t>Framework 5 FASES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59689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Plus Jakarta Sans"/>
              </a:defRPr>
            </a:pPr>
            <a:r>
              <a:t>Mapa do processo do INPUT ao POLIMENTO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98094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Plus Jakarta Sans"/>
              </a:defRPr>
            </a:pPr>
            <a:r>
              <a:t>  Fase 1 — 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980944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Plus Jakarta Sans"/>
              </a:defRPr>
            </a:pPr>
            <a:r>
              <a:t>academic-researcher + source-validator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64991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Plus Jakarta Sans"/>
              </a:defRPr>
            </a:pPr>
            <a:r>
              <a:t>  Fase 2 — Desenho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364991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Plus Jakarta Sans"/>
              </a:defRPr>
            </a:pPr>
            <a:r>
              <a:t>methodology-advisor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3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Plus Jakarta Sans"/>
              </a:defRPr>
            </a:pPr>
            <a:r>
              <a:t>  Fase 3 — Digestao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749039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Plus Jakarta Sans"/>
              </a:defRPr>
            </a:pPr>
            <a:r>
              <a:t>knowledge-architect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133087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Plus Jakarta Sans"/>
              </a:defRPr>
            </a:pPr>
            <a:r>
              <a:t>  Fase 4 — Producao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133087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Plus Jakarta Sans"/>
              </a:defRPr>
            </a:pPr>
            <a:r>
              <a:t>academic-writer + citation-manager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5171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Plus Jakarta Sans"/>
              </a:defRPr>
            </a:pPr>
            <a:r>
              <a:t>  Fase 5 — Polimento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51713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Plus Jakarta Sans"/>
              </a:defRPr>
            </a:pPr>
            <a:r>
              <a:t>auditor + humanizer + peer-reviewer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901183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C5B358"/>
                </a:solidFill>
                <a:latin typeface="IBM Plex Mono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901183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1">
                <a:solidFill>
                  <a:srgbClr val="1E1E1E"/>
                </a:solidFill>
                <a:latin typeface="Plus Jakarta Sans"/>
              </a:defRPr>
            </a:pPr>
            <a:r>
              <a:t>Ritmos de uso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901183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Plus Jakarta Sans"/>
              </a:defRPr>
            </a:pPr>
            <a:r>
              <a:t>Diario, semanal, sprint, pre-submissao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285231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C5B358"/>
                </a:solidFill>
                <a:latin typeface="IBM Plex Mono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285231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1">
                <a:solidFill>
                  <a:srgbClr val="1E1E1E"/>
                </a:solidFill>
                <a:latin typeface="Plus Jakarta Sans"/>
              </a:defRPr>
            </a:pPr>
            <a:r>
              <a:t>Decision tree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5285231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Plus Jakarta Sans"/>
              </a:defRPr>
            </a:pPr>
            <a:r>
              <a:t>Qual agente usar quando voce nao sabe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6692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C5B358"/>
                </a:solidFill>
                <a:latin typeface="IBM Plex Mono"/>
              </a:defRPr>
            </a:pPr>
            <a: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6692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1">
                <a:solidFill>
                  <a:srgbClr val="1E1E1E"/>
                </a:solidFill>
                <a:latin typeface="Plus Jakarta Sans"/>
              </a:defRPr>
            </a:pPr>
            <a:r>
              <a:t>Cheat sheet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5669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Plus Jakarta Sans"/>
              </a:defRPr>
            </a:pPr>
            <a:r>
              <a:t>Todos os prompts em uma pagina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Plus Jakarta Sans"/>
              </a:defRPr>
            </a:pPr>
            <a:r>
              <a:t>Manual de Uso  |  Agent Study Assistant  |  Verticalis AI Journey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IBM Plex Mono"/>
              </a:defRPr>
            </a:pPr>
            <a: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486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D4C878"/>
                </a:solidFill>
                <a:latin typeface="IBM Plex Mono"/>
              </a:defRPr>
            </a:pPr>
            <a:r>
              <a:t>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200"/>
              </a:lnSpc>
              <a:defRPr sz="3200" b="1">
                <a:solidFill>
                  <a:srgbClr val="FFFFFF"/>
                </a:solidFill>
                <a:latin typeface="Lora"/>
              </a:defRPr>
            </a:pPr>
            <a:r>
              <a:t>"Os agentes so funcionam se voce souber</a:t>
            </a:r>
            <a:br/>
            <a:r>
              <a:t>exatamente quando aciona-los."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468880"/>
            <a:ext cx="1097280" cy="381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92608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00"/>
              </a:lnSpc>
              <a:defRPr sz="1400" b="0">
                <a:solidFill>
                  <a:srgbClr val="CCCCCC"/>
                </a:solidFill>
                <a:latin typeface="Plus Jakarta Sans"/>
              </a:defRPr>
            </a:pPr>
            <a:r>
              <a:t>Voce ja instalou os 9 agentes.</a:t>
            </a:r>
            <a:br/>
            <a:r>
              <a:t>O ambiente esta pronto.</a:t>
            </a:r>
            <a:br/>
            <a:r>
              <a:t>Falta o mais importante: o metodo.</a:t>
            </a:r>
            <a:br/>
            <a:br/>
            <a:r>
              <a:t>Sem metodo, voce vai usar o agente errado</a:t>
            </a:r>
            <a:br/>
            <a:r>
              <a:t>no momento errado e gastar dois meses</a:t>
            </a:r>
            <a:br/>
            <a:r>
              <a:t>tentando reparar uma decisao que custou</a:t>
            </a:r>
            <a:br/>
            <a:r>
              <a:t>5 minutos para tomar.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92608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00"/>
              </a:lnSpc>
              <a:defRPr sz="1400" b="0">
                <a:solidFill>
                  <a:srgbClr val="CCCCCC"/>
                </a:solidFill>
                <a:latin typeface="Plus Jakarta Sans"/>
              </a:defRPr>
            </a:pPr>
            <a:r>
              <a:t>Este manual oferece um framework simples</a:t>
            </a:r>
            <a:br/>
            <a:r>
              <a:t>de 5 fases que voce repete a cada</a:t>
            </a:r>
            <a:br/>
            <a:r>
              <a:t>ciclo da pesquisa.</a:t>
            </a:r>
            <a:br/>
            <a:br/>
            <a:r>
              <a:t>Cada fase tem agentes especificos,</a:t>
            </a:r>
            <a:br/>
            <a:r>
              <a:t>prompts copiaveis, e ritmos de uso</a:t>
            </a:r>
            <a:br/>
            <a:r>
              <a:t>(diario, semanal, sprint, pre-submissao)</a:t>
            </a:r>
            <a:br/>
            <a:r>
              <a:t>que se encaixam na sua rotina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943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0">
                <a:solidFill>
                  <a:srgbClr val="D4C878"/>
                </a:solidFill>
                <a:latin typeface="Lora"/>
              </a:defRPr>
            </a:pPr>
            <a:r>
              <a:t>Metodo &gt; Ferramenta. O squad e o instrumento — voce e o pesquisador.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888888"/>
                </a:solidFill>
                <a:latin typeface="Plus Jakarta Sans"/>
              </a:defRPr>
            </a:pPr>
            <a:r>
              <a:t>Manual de Uso  |  Agent Study Assistant  |  Verticalis AI Journey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888888"/>
                </a:solidFill>
                <a:latin typeface="IBM Plex Mono"/>
              </a:defRPr>
            </a:pPr>
            <a: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C5B358"/>
                </a:solidFill>
                <a:latin typeface="Plus Jakarta Sans"/>
              </a:defRPr>
            </a:pPr>
            <a:r>
              <a:t>01  PRE-REQUISITO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000" b="1">
                <a:solidFill>
                  <a:srgbClr val="1E1E1E"/>
                </a:solidFill>
                <a:latin typeface="Plus Jakarta Sans"/>
              </a:defRPr>
            </a:pPr>
            <a:r>
              <a:t>Antes de continuar, valide a instalacao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91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Plus Jakarta Sans"/>
              </a:defRPr>
            </a:pPr>
            <a:r>
              <a:t>Se algo aqui nao estiver pronto, volte para o INSTALL-FACIL.md.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377440"/>
            <a:ext cx="10515600" cy="50292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80160" y="2468880"/>
            <a:ext cx="457200" cy="320040"/>
          </a:xfrm>
          <a:prstGeom prst="roundRect">
            <a:avLst/>
          </a:prstGeom>
          <a:solidFill>
            <a:srgbClr val="2D6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4963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BM Plex Mono"/>
              </a:defRPr>
            </a:pPr>
            <a:r>
              <a:t>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4414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1E1E1E"/>
                </a:solidFill>
                <a:latin typeface="Plus Jakarta Sans"/>
              </a:defRPr>
            </a:pPr>
            <a:r>
              <a:t>Claude Code instalado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2496312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Plus Jakarta Sans"/>
              </a:defRPr>
            </a:pPr>
            <a:r>
              <a:t>App em claude.com/claude-code ou navegador em claude.ai/code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971800"/>
            <a:ext cx="10515600" cy="50292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80160" y="3063240"/>
            <a:ext cx="457200" cy="320040"/>
          </a:xfrm>
          <a:prstGeom prst="roundRect">
            <a:avLst/>
          </a:prstGeom>
          <a:solidFill>
            <a:srgbClr val="2D6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09067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BM Plex Mono"/>
              </a:defRPr>
            </a:pPr>
            <a:r>
              <a:t>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1E1E1E"/>
                </a:solidFill>
                <a:latin typeface="Plus Jakarta Sans"/>
              </a:defRPr>
            </a:pPr>
            <a:r>
              <a:t>Squad instalado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3090672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Plus Jakarta Sans"/>
              </a:defRPr>
            </a:pPr>
            <a:r>
              <a:t>9 agentes em ~/.claude/agents/  (rode /agents para confirmar)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3566160"/>
            <a:ext cx="10515600" cy="50292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80160" y="3657600"/>
            <a:ext cx="457200" cy="320040"/>
          </a:xfrm>
          <a:prstGeom prst="roundRect">
            <a:avLst/>
          </a:prstGeom>
          <a:solidFill>
            <a:srgbClr val="2D6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6850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BM Plex Mono"/>
              </a:defRPr>
            </a:pPr>
            <a:r>
              <a:t>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63016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1E1E1E"/>
                </a:solidFill>
                <a:latin typeface="Plus Jakarta Sans"/>
              </a:defRPr>
            </a:pPr>
            <a:r>
              <a:t>Comando /study-setup ativo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685032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Plus Jakarta Sans"/>
              </a:defRPr>
            </a:pPr>
            <a:r>
              <a:t>Em ~/.claude/commands/study-setup.md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4160520"/>
            <a:ext cx="10515600" cy="50292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280160" y="4251960"/>
            <a:ext cx="457200" cy="320040"/>
          </a:xfrm>
          <a:prstGeom prst="roundRect">
            <a:avLst/>
          </a:prstGeom>
          <a:solidFill>
            <a:srgbClr val="2D6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0160" y="4279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BM Plex Mono"/>
              </a:defRPr>
            </a:pPr>
            <a:r>
              <a:t>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2245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1E1E1E"/>
                </a:solidFill>
                <a:latin typeface="Plus Jakarta Sans"/>
              </a:defRPr>
            </a:pPr>
            <a:r>
              <a:t>Pasta de trabalho criada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4279392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Plus Jakarta Sans"/>
              </a:defRPr>
            </a:pPr>
            <a:r>
              <a:t>Mestrado-{Tema}/ com arvore PARA + Zettelkasten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97280" y="4754880"/>
            <a:ext cx="10515600" cy="50292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280160" y="4846320"/>
            <a:ext cx="457200" cy="320040"/>
          </a:xfrm>
          <a:prstGeom prst="roundRect">
            <a:avLst/>
          </a:prstGeom>
          <a:solidFill>
            <a:srgbClr val="2D6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0160" y="48737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BM Plex Mono"/>
              </a:defRPr>
            </a:pPr>
            <a: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48188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1E1E1E"/>
                </a:solidFill>
                <a:latin typeface="Plus Jakarta Sans"/>
              </a:defRPr>
            </a:pPr>
            <a:r>
              <a:t>memory/ pre-preenchido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4873752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Plus Jakarta Sans"/>
              </a:defRPr>
            </a:pPr>
            <a:r>
              <a:t>5 arquivos: thesis, citation_style, voice, methodology, feedback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7280" y="5349240"/>
            <a:ext cx="10515600" cy="50292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280160" y="5440680"/>
            <a:ext cx="457200" cy="320040"/>
          </a:xfrm>
          <a:prstGeom prst="roundRect">
            <a:avLst/>
          </a:prstGeom>
          <a:solidFill>
            <a:srgbClr val="D48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54681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BM Plex Mono"/>
              </a:defRPr>
            </a:pPr>
            <a:r>
              <a:t>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20240" y="54132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1E1E1E"/>
                </a:solidFill>
                <a:latin typeface="Plus Jakarta Sans"/>
              </a:defRPr>
            </a:pPr>
            <a:r>
              <a:t>Voice-humanizer calibrado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5468112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Plus Jakarta Sans"/>
              </a:defRPr>
            </a:pPr>
            <a:r>
              <a:t>Voce ja respondeu o questionario de 21 perguntas?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97280" y="5989320"/>
            <a:ext cx="10515600" cy="365760"/>
          </a:xfrm>
          <a:prstGeom prst="roundRect">
            <a:avLst/>
          </a:prstGeom>
          <a:solidFill>
            <a:srgbClr val="0B2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603504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D4C878"/>
                </a:solidFill>
                <a:latin typeface="IBM Plex Mono"/>
              </a:defRPr>
            </a:pPr>
            <a:r>
              <a:t>VALIDAR  •  Cole no Claude Code: /study-setup --check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Plus Jakarta Sans"/>
              </a:defRPr>
            </a:pPr>
            <a:r>
              <a:t>Manual de Uso  |  Agent Study Assistant  |  Verticalis AI Journey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IBM Plex Mono"/>
              </a:defRPr>
            </a:pPr>
            <a: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486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D4C878"/>
                </a:solidFill>
                <a:latin typeface="IBM Plex Mono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Plus Jakarta Sans"/>
              </a:defRPr>
            </a:pPr>
            <a:r>
              <a:t>Anatomia de uma chamada de agente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1097280" cy="381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Plus Jakarta Sans"/>
              </a:defRPr>
            </a:pPr>
            <a:r>
              <a:t>Tres formas de acionar + estrutura ideal de prompt.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06040"/>
            <a:ext cx="3657600" cy="155448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D4C878"/>
                </a:solidFill>
                <a:latin typeface="IBM Plex Mono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6974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Mencao direta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108960"/>
            <a:ext cx="3383280" cy="594360"/>
          </a:xfrm>
          <a:prstGeom prst="roundRect">
            <a:avLst/>
          </a:prstGeom>
          <a:solidFill>
            <a:srgbClr val="0B2823"/>
          </a:solidFill>
          <a:ln w="635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24612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D4C878"/>
                </a:solidFill>
                <a:latin typeface="IBM Plex Mono"/>
              </a:defRPr>
            </a:pPr>
            <a:r>
              <a:t>Acione o {nome-do-agente} para...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Funciona em qualquer</a:t>
            </a:r>
            <a:br/>
            <a:r>
              <a:t>sessao Claude Code.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2606040"/>
            <a:ext cx="3657600" cy="155448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6974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D4C878"/>
                </a:solidFill>
                <a:latin typeface="IBM Plex Mono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26974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Slash command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3108960"/>
            <a:ext cx="3383280" cy="594360"/>
          </a:xfrm>
          <a:prstGeom prst="roundRect">
            <a:avLst/>
          </a:prstGeom>
          <a:solidFill>
            <a:srgbClr val="0B2823"/>
          </a:solidFill>
          <a:ln w="635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24612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D4C878"/>
                </a:solidFill>
                <a:latin typeface="IBM Plex Mono"/>
              </a:defRPr>
            </a:pPr>
            <a:r>
              <a:t>/agents &gt; escolher na lista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7947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Lista os agentes</a:t>
            </a:r>
            <a:br/>
            <a:r>
              <a:t>instalados.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2606040"/>
            <a:ext cx="3657600" cy="155448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26974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D4C878"/>
                </a:solidFill>
                <a:latin typeface="IBM Plex Mono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6974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Contexto + tarefa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3108960"/>
            <a:ext cx="3383280" cy="594360"/>
          </a:xfrm>
          <a:prstGeom prst="roundRect">
            <a:avLst/>
          </a:prstGeom>
          <a:solidFill>
            <a:srgbClr val="0B2823"/>
          </a:solidFill>
          <a:ln w="635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0" y="324612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D4C878"/>
                </a:solidFill>
                <a:latin typeface="IBM Plex Mono"/>
              </a:defRPr>
            </a:pPr>
            <a:r>
              <a:t>Sou {nome}, trabalho com {tema}.</a:t>
            </a:r>
            <a:br/>
            <a:r>
              <a:t>Para este draft especifico...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7280" y="4434840"/>
            <a:ext cx="10515600" cy="182880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45720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C5B358"/>
                </a:solidFill>
                <a:latin typeface="Plus Jakarta Sans"/>
              </a:defRPr>
            </a:pPr>
            <a:r>
              <a:t>ESTRUTURA IDEAL DE UM PROMPT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937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D4C878"/>
                </a:solidFill>
                <a:latin typeface="IBM Plex Mono"/>
              </a:defRPr>
            </a:pPr>
            <a:r>
              <a:t>AGENTE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49377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Plus Jakarta Sans"/>
              </a:defRPr>
            </a:pPr>
            <a:r>
              <a:t>academic-researcher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937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D4C878"/>
                </a:solidFill>
                <a:latin typeface="IBM Plex Mono"/>
              </a:defRPr>
            </a:pPr>
            <a:r>
              <a:t>TAREFA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9377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Plus Jakarta Sans"/>
              </a:defRPr>
            </a:pPr>
            <a:r>
              <a:t>buscar fontes recentes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55321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D4C878"/>
                </a:solidFill>
                <a:latin typeface="IBM Plex Mono"/>
              </a:defRPr>
            </a:pPr>
            <a:r>
              <a:t>CONTEXTO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5532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Plus Jakarta Sans"/>
              </a:defRPr>
            </a:pPr>
            <a:r>
              <a:t>tema X, periodo 2020-2026, em SciELO/Scholar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5321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D4C878"/>
                </a:solidFill>
                <a:latin typeface="IBM Plex Mono"/>
              </a:defRPr>
            </a:pPr>
            <a:r>
              <a:t>SAIDA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5532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Plus Jakarta Sans"/>
              </a:defRPr>
            </a:pPr>
            <a:r>
              <a:t>lista priorizada com DOI verificavel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888888"/>
                </a:solidFill>
                <a:latin typeface="Plus Jakarta Sans"/>
              </a:defRPr>
            </a:pPr>
            <a:r>
              <a:t>Manual de Uso  |  Agent Study Assistant  |  Verticalis AI Journey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888888"/>
                </a:solidFill>
                <a:latin typeface="IBM Plex Mono"/>
              </a:defRPr>
            </a:pPr>
            <a: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C5B358"/>
                </a:solidFill>
                <a:latin typeface="Plus Jakarta Sans"/>
              </a:defRPr>
            </a:pPr>
            <a:r>
              <a:t>03  FRAMEWORK 5 FASES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000" b="1">
                <a:solidFill>
                  <a:srgbClr val="1E1E1E"/>
                </a:solidFill>
                <a:latin typeface="Plus Jakarta Sans"/>
              </a:defRPr>
            </a:pPr>
            <a:r>
              <a:t>Da pergunta a defesa, em ciclos repetiveis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91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Plus Jakarta Sans"/>
              </a:defRPr>
            </a:pPr>
            <a:r>
              <a:t>Cada fase tem agentes especificos, output esperado e ritmo de execucao.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2194560" cy="402336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2194560" cy="381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231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IBM Plex Mono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700" b="1">
                <a:solidFill>
                  <a:srgbClr val="1E1E1E"/>
                </a:solidFill>
                <a:latin typeface="Plus Jakarta Sans"/>
              </a:defRPr>
            </a:pPr>
            <a: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4A4A4A"/>
                </a:solidFill>
                <a:latin typeface="Lora"/>
              </a:defRPr>
            </a:pPr>
            <a:r>
              <a:t>Capturar e validar fontes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114800"/>
            <a:ext cx="640080" cy="12700"/>
          </a:xfrm>
          <a:prstGeom prst="rect">
            <a:avLst/>
          </a:prstGeom>
          <a:solidFill>
            <a:srgbClr val="E0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062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Plus Jakarta Sans"/>
              </a:defRPr>
            </a:pPr>
            <a:r>
              <a:t>AGENTES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900" b="0">
                <a:solidFill>
                  <a:srgbClr val="4A4A4A"/>
                </a:solidFill>
                <a:latin typeface="IBM Plex Mono"/>
              </a:defRPr>
            </a:pPr>
            <a:r>
              <a:t>academic-researcher</a:t>
            </a:r>
            <a:br/>
            <a:r>
              <a:t>source-validator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864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Plus Jakarta Sans"/>
              </a:defRPr>
            </a:pPr>
            <a:r>
              <a:t>RITMO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71500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4A4A4A"/>
                </a:solidFill>
                <a:latin typeface="Plus Jakarta Sans"/>
              </a:defRPr>
            </a:pPr>
            <a:r>
              <a:t>Diario</a:t>
            </a:r>
            <a:br/>
            <a:r>
              <a:t>Semanal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834640" y="4069080"/>
            <a:ext cx="164592" cy="201168"/>
          </a:xfrm>
          <a:prstGeom prst="rightArrow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971800" y="2286000"/>
            <a:ext cx="2194560" cy="402336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71800" y="2286000"/>
            <a:ext cx="2194560" cy="38100"/>
          </a:xfrm>
          <a:prstGeom prst="rect">
            <a:avLst/>
          </a:prstGeom>
          <a:solidFill>
            <a:srgbClr val="3A5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24231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3A564E"/>
                </a:solidFill>
                <a:latin typeface="IBM Plex Mono"/>
              </a:defRPr>
            </a:pPr>
            <a: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269748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700" b="1">
                <a:solidFill>
                  <a:srgbClr val="1E1E1E"/>
                </a:solidFill>
                <a:latin typeface="Plus Jakarta Sans"/>
              </a:defRPr>
            </a:pPr>
            <a:r>
              <a:t>DESENHO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324612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4A4A4A"/>
                </a:solidFill>
                <a:latin typeface="Lora"/>
              </a:defRPr>
            </a:pPr>
            <a:r>
              <a:t>Planejar metodologia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46120" y="4114800"/>
            <a:ext cx="640080" cy="12700"/>
          </a:xfrm>
          <a:prstGeom prst="rect">
            <a:avLst/>
          </a:prstGeom>
          <a:solidFill>
            <a:srgbClr val="E0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4680" y="42062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3A564E"/>
                </a:solidFill>
                <a:latin typeface="Plus Jakarta Sans"/>
              </a:defRPr>
            </a:pPr>
            <a:r>
              <a:t>AGENTES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43484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900" b="0">
                <a:solidFill>
                  <a:srgbClr val="4A4A4A"/>
                </a:solidFill>
                <a:latin typeface="IBM Plex Mono"/>
              </a:defRPr>
            </a:pPr>
            <a:r>
              <a:t>methodology-advisor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54864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3A564E"/>
                </a:solidFill>
                <a:latin typeface="Plus Jakarta Sans"/>
              </a:defRPr>
            </a:pPr>
            <a:r>
              <a:t>RITMO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571500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4A4A4A"/>
                </a:solidFill>
                <a:latin typeface="Plus Jakarta Sans"/>
              </a:defRPr>
            </a:pPr>
            <a:r>
              <a:t>Inicio do projeto</a:t>
            </a:r>
            <a:br/>
            <a:r>
              <a:t>Qualificacao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166360" y="4069080"/>
            <a:ext cx="164592" cy="201168"/>
          </a:xfrm>
          <a:prstGeom prst="rightArrow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03520" y="2286000"/>
            <a:ext cx="2194560" cy="402336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03520" y="2286000"/>
            <a:ext cx="2194560" cy="381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24231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C5B358"/>
                </a:solidFill>
                <a:latin typeface="IBM Plex Mono"/>
              </a:defRPr>
            </a:pPr>
            <a: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269748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700" b="1">
                <a:solidFill>
                  <a:srgbClr val="1E1E1E"/>
                </a:solidFill>
                <a:latin typeface="Plus Jakarta Sans"/>
              </a:defRPr>
            </a:pPr>
            <a:r>
              <a:t>DIGESTAO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324612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4A4A4A"/>
                </a:solidFill>
                <a:latin typeface="Lora"/>
              </a:defRPr>
            </a:pPr>
            <a:r>
              <a:t>Converter leitura em</a:t>
            </a:r>
            <a:br/>
            <a:r>
              <a:t>nota atomica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77840" y="4114800"/>
            <a:ext cx="640080" cy="12700"/>
          </a:xfrm>
          <a:prstGeom prst="rect">
            <a:avLst/>
          </a:prstGeom>
          <a:solidFill>
            <a:srgbClr val="E0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42062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C5B358"/>
                </a:solidFill>
                <a:latin typeface="Plus Jakarta Sans"/>
              </a:defRPr>
            </a:pPr>
            <a:r>
              <a:t>AGENTES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443484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900" b="0">
                <a:solidFill>
                  <a:srgbClr val="4A4A4A"/>
                </a:solidFill>
                <a:latin typeface="IBM Plex Mono"/>
              </a:defRPr>
            </a:pPr>
            <a:r>
              <a:t>knowledge-architect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54864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C5B358"/>
                </a:solidFill>
                <a:latin typeface="Plus Jakarta Sans"/>
              </a:defRPr>
            </a:pPr>
            <a:r>
              <a:t>RITMO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571500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4A4A4A"/>
                </a:solidFill>
                <a:latin typeface="Plus Jakarta Sans"/>
              </a:defRPr>
            </a:pPr>
            <a:r>
              <a:t>Diario</a:t>
            </a:r>
            <a:br/>
            <a:r>
              <a:t>apos cada leitura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7498080" y="4069080"/>
            <a:ext cx="164592" cy="201168"/>
          </a:xfrm>
          <a:prstGeom prst="rightArrow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635240" y="2286000"/>
            <a:ext cx="2194560" cy="402336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5240" y="2286000"/>
            <a:ext cx="2194560" cy="38100"/>
          </a:xfrm>
          <a:prstGeom prst="rect">
            <a:avLst/>
          </a:prstGeom>
          <a:solidFill>
            <a:srgbClr val="0B2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18120" y="24231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0B2823"/>
                </a:solidFill>
                <a:latin typeface="IBM Plex Mono"/>
              </a:defRPr>
            </a:pPr>
            <a: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18120" y="269748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700" b="1">
                <a:solidFill>
                  <a:srgbClr val="1E1E1E"/>
                </a:solidFill>
                <a:latin typeface="Plus Jakarta Sans"/>
              </a:defRPr>
            </a:pPr>
            <a:r>
              <a:t>PRODUCAO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18120" y="324612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4A4A4A"/>
                </a:solidFill>
                <a:latin typeface="Lora"/>
              </a:defRPr>
            </a:pPr>
            <a:r>
              <a:t>Redigir capitulos</a:t>
            </a:r>
            <a:br/>
            <a:r>
              <a:t>a partir das notas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09560" y="4114800"/>
            <a:ext cx="640080" cy="12700"/>
          </a:xfrm>
          <a:prstGeom prst="rect">
            <a:avLst/>
          </a:prstGeom>
          <a:solidFill>
            <a:srgbClr val="E0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18120" y="42062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0B2823"/>
                </a:solidFill>
                <a:latin typeface="Plus Jakarta Sans"/>
              </a:defRPr>
            </a:pPr>
            <a:r>
              <a:t>AGENTES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18120" y="443484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900" b="0">
                <a:solidFill>
                  <a:srgbClr val="4A4A4A"/>
                </a:solidFill>
                <a:latin typeface="IBM Plex Mono"/>
              </a:defRPr>
            </a:pPr>
            <a:r>
              <a:t>academic-writer</a:t>
            </a:r>
            <a:br/>
            <a:r>
              <a:t>citation-manager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18120" y="54864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0B2823"/>
                </a:solidFill>
                <a:latin typeface="Plus Jakarta Sans"/>
              </a:defRPr>
            </a:pPr>
            <a:r>
              <a:t>RITMO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18120" y="571500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4A4A4A"/>
                </a:solidFill>
                <a:latin typeface="Plus Jakarta Sans"/>
              </a:defRPr>
            </a:pPr>
            <a:r>
              <a:t>Sprints de 1-2 semanas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9829800" y="4069080"/>
            <a:ext cx="164592" cy="201168"/>
          </a:xfrm>
          <a:prstGeom prst="rightArrow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966959" y="2286000"/>
            <a:ext cx="2194560" cy="402336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966959" y="2286000"/>
            <a:ext cx="2194560" cy="38100"/>
          </a:xfrm>
          <a:prstGeom prst="rect">
            <a:avLst/>
          </a:prstGeom>
          <a:solidFill>
            <a:srgbClr val="2D6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149839" y="24231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2D6E43"/>
                </a:solidFill>
                <a:latin typeface="IBM Plex Mono"/>
              </a:defRPr>
            </a:pPr>
            <a:r>
              <a:t>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49839" y="269748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700" b="1">
                <a:solidFill>
                  <a:srgbClr val="1E1E1E"/>
                </a:solidFill>
                <a:latin typeface="Plus Jakarta Sans"/>
              </a:defRPr>
            </a:pPr>
            <a:r>
              <a:t>POLIMENTO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49839" y="324612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4A4A4A"/>
                </a:solidFill>
                <a:latin typeface="Lora"/>
              </a:defRPr>
            </a:pPr>
            <a:r>
              <a:t>Auditar, humanizar,</a:t>
            </a:r>
            <a:br/>
            <a:r>
              <a:t>simular banca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241279" y="4114800"/>
            <a:ext cx="640080" cy="12700"/>
          </a:xfrm>
          <a:prstGeom prst="rect">
            <a:avLst/>
          </a:prstGeom>
          <a:solidFill>
            <a:srgbClr val="E0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149839" y="42062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2D6E43"/>
                </a:solidFill>
                <a:latin typeface="Plus Jakarta Sans"/>
              </a:defRPr>
            </a:pPr>
            <a:r>
              <a:t>AGENTES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49839" y="443484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900" b="0">
                <a:solidFill>
                  <a:srgbClr val="4A4A4A"/>
                </a:solidFill>
                <a:latin typeface="IBM Plex Mono"/>
              </a:defRPr>
            </a:pPr>
            <a:r>
              <a:t>ai-pattern-auditor</a:t>
            </a:r>
            <a:br/>
            <a:r>
              <a:t>voice-humanizer</a:t>
            </a:r>
            <a:br/>
            <a:r>
              <a:t>peer-reviewer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49839" y="54864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2D6E43"/>
                </a:solidFill>
                <a:latin typeface="Plus Jakarta Sans"/>
              </a:defRPr>
            </a:pPr>
            <a:r>
              <a:t>RITMO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49839" y="571500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4A4A4A"/>
                </a:solidFill>
                <a:latin typeface="Plus Jakarta Sans"/>
              </a:defRPr>
            </a:pPr>
            <a:r>
              <a:t>Antes de submeter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Plus Jakarta Sans"/>
              </a:defRPr>
            </a:pPr>
            <a:r>
              <a:t>Manual de Uso  |  Agent Study Assistant  |  Verticalis AI Journey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4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IBM Plex Mono"/>
              </a:defRPr>
            </a:pPr>
            <a: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486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D4C878"/>
                </a:solidFill>
                <a:latin typeface="IBM Plex Mono"/>
              </a:defRPr>
            </a:pPr>
            <a:r>
              <a:t>03.1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60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Plus Jakarta Sans"/>
              </a:defRPr>
            </a:pPr>
            <a:r>
              <a:t>FASE 1 — INPUT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600200"/>
            <a:ext cx="914400" cy="381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920240"/>
            <a:ext cx="5120640" cy="91440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C5B358"/>
                </a:solidFill>
                <a:latin typeface="Plus Jakarta Sans"/>
              </a:defRPr>
            </a:pPr>
            <a:r>
              <a:t>AGENTES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860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00"/>
              </a:lnSpc>
              <a:defRPr sz="1300" b="1">
                <a:solidFill>
                  <a:srgbClr val="FFFFFF"/>
                </a:solidFill>
                <a:latin typeface="IBM Plex Mono"/>
              </a:defRPr>
            </a:pPr>
            <a:r>
              <a:t>academic-researcher</a:t>
            </a:r>
            <a:br/>
            <a:r>
              <a:t>source-validator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920240"/>
            <a:ext cx="5120640" cy="91440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C5B358"/>
                </a:solidFill>
                <a:latin typeface="Plus Jakarta Sans"/>
              </a:defRPr>
            </a:pPr>
            <a:r>
              <a:t>QUANDO ACIONAR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2860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00"/>
              </a:lnSpc>
              <a:defRPr sz="1200" b="0">
                <a:solidFill>
                  <a:srgbClr val="CCCCCC"/>
                </a:solidFill>
                <a:latin typeface="Plus Jakarta Sans"/>
              </a:defRPr>
            </a:pPr>
            <a:r>
              <a:t>2-3x por semana, ou</a:t>
            </a:r>
            <a:br/>
            <a:r>
              <a:t>quando o tema pede fontes</a:t>
            </a:r>
            <a:br/>
            <a:r>
              <a:t>novas (gap, nova vertente).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718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D4C878"/>
                </a:solidFill>
                <a:latin typeface="Plus Jakarta Sans"/>
              </a:defRPr>
            </a:pPr>
            <a:r>
              <a:t>PROMPT TEMPLATE  •  copie, ajuste e cole no 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246120"/>
            <a:ext cx="10515600" cy="1417320"/>
          </a:xfrm>
          <a:prstGeom prst="roundRect">
            <a:avLst/>
          </a:prstGeom>
          <a:solidFill>
            <a:srgbClr val="0B2823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383280"/>
            <a:ext cx="101498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D4C878"/>
                </a:solidFill>
                <a:latin typeface="IBM Plex Mono"/>
              </a:defRPr>
            </a:pPr>
            <a:r>
              <a:t>Acione o academic-researcher para buscar fontes recentes</a:t>
            </a:r>
            <a:br/>
            <a:r>
              <a:t>(2020-2026) sobre {SEU TEMA} em SciELO, Scholar e CAPES.</a:t>
            </a:r>
            <a:br/>
            <a:r>
              <a:t>Foco em artigos com Qualis A1-B2. Retornar 8-12 fontes</a:t>
            </a:r>
            <a:br/>
            <a:r>
              <a:t>priorizadas com DOI verificavel.</a:t>
            </a:r>
            <a:br/>
            <a:br/>
            <a:r>
              <a:t>Em seguida, acione source-validator para auditar cada</a:t>
            </a:r>
            <a:br/>
            <a:r>
              <a:t>referencia retornada antes de eu salvar no biblio.bib.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4846320"/>
            <a:ext cx="3383280" cy="141732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2D6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9377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2D6E43"/>
                </a:solidFill>
                <a:latin typeface="Plus Jakarta Sans"/>
              </a:defRPr>
            </a:pPr>
            <a:r>
              <a:t>✓ SAIDA ESPERADA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32004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Lista em research/{data}/sources.md</a:t>
            </a:r>
            <a:br/>
            <a:r>
              <a:t>com 8-12 fontes (DOI, Qualis,</a:t>
            </a:r>
            <a:br/>
            <a:r>
              <a:t>resumo de 3 linhas, relevancia 1-5).</a:t>
            </a:r>
            <a:br/>
            <a:r>
              <a:t>Validacao com simbolos</a:t>
            </a:r>
            <a:br/>
            <a:r>
              <a:t>✓ / 🟡 / ❌ por afirmacao.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4846320"/>
            <a:ext cx="3383280" cy="141732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9377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C5B358"/>
                </a:solidFill>
                <a:latin typeface="Plus Jakarta Sans"/>
              </a:defRPr>
            </a:pPr>
            <a:r>
              <a:t>→ PROXIMO PASSO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5166360"/>
            <a:ext cx="32004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1) Aprovar fontes ✓</a:t>
            </a:r>
            <a:br/>
            <a:r>
              <a:t>2) citation-manager: adicionar</a:t>
            </a:r>
            <a:br/>
            <a:r>
              <a:t>   .bib</a:t>
            </a:r>
            <a:br/>
            <a:r>
              <a:t>3) Mover PDFs aprovados</a:t>
            </a:r>
            <a:br/>
            <a:r>
              <a:t>   para Bibliografia/PDFs/</a:t>
            </a:r>
            <a:br/>
            <a:r>
              <a:t>4) knowledge-architect ficha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846320"/>
            <a:ext cx="3383280" cy="141732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9377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Plus Jakarta Sans"/>
              </a:defRPr>
            </a:pPr>
            <a:r>
              <a:t>✗ ANTI-PADRAO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5166360"/>
            <a:ext cx="32004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Aceitar lista sem rodar</a:t>
            </a:r>
            <a:br/>
            <a:r>
              <a:t>source-validator. IA pode</a:t>
            </a:r>
            <a:br/>
            <a:r>
              <a:t>alucinar DOI, ano e ate</a:t>
            </a:r>
            <a:br/>
            <a:r>
              <a:t>autor. Toda fonte tem que</a:t>
            </a:r>
            <a:br/>
            <a:r>
              <a:t>passar pelo gatekeeper.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888888"/>
                </a:solidFill>
                <a:latin typeface="Plus Jakarta Sans"/>
              </a:defRPr>
            </a:pPr>
            <a:r>
              <a:t>Manual de Uso  |  Agent Study Assistant  |  Verticalis AI Journey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888888"/>
                </a:solidFill>
                <a:latin typeface="IBM Plex Mono"/>
              </a:defRPr>
            </a:pPr>
            <a: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C5B358"/>
                </a:solidFill>
                <a:latin typeface="Plus Jakarta Sans"/>
              </a:defRPr>
            </a:pPr>
            <a:r>
              <a:t>03.2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1E1E1E"/>
                </a:solidFill>
                <a:latin typeface="Plus Jakarta Sans"/>
              </a:defRPr>
            </a:pPr>
            <a:r>
              <a:t>FASE 2 — DESENHO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600200"/>
            <a:ext cx="914400" cy="38100"/>
          </a:xfrm>
          <a:prstGeom prst="rect">
            <a:avLst/>
          </a:prstGeom>
          <a:solidFill>
            <a:srgbClr val="3A5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920240"/>
            <a:ext cx="5120640" cy="914400"/>
          </a:xfrm>
          <a:prstGeom prst="roundRect">
            <a:avLst/>
          </a:prstGeom>
          <a:solidFill>
            <a:srgbClr val="F4F1EA"/>
          </a:solidFill>
          <a:ln w="635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C5B358"/>
                </a:solidFill>
                <a:latin typeface="Plus Jakarta Sans"/>
              </a:defRPr>
            </a:pPr>
            <a:r>
              <a:t>AGENTES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2860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00"/>
              </a:lnSpc>
              <a:defRPr sz="1300" b="1">
                <a:solidFill>
                  <a:srgbClr val="1E1E1E"/>
                </a:solidFill>
                <a:latin typeface="IBM Plex Mono"/>
              </a:defRPr>
            </a:pPr>
            <a:r>
              <a:t>methodology-advisor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920240"/>
            <a:ext cx="5120640" cy="914400"/>
          </a:xfrm>
          <a:prstGeom prst="roundRect">
            <a:avLst/>
          </a:prstGeom>
          <a:solidFill>
            <a:srgbClr val="F4F1EA"/>
          </a:solidFill>
          <a:ln w="635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C5B358"/>
                </a:solidFill>
                <a:latin typeface="Plus Jakarta Sans"/>
              </a:defRPr>
            </a:pPr>
            <a:r>
              <a:t>QUANDO ACIONAR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860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00"/>
              </a:lnSpc>
              <a:defRPr sz="1200" b="0">
                <a:solidFill>
                  <a:srgbClr val="4A4A4A"/>
                </a:solidFill>
                <a:latin typeface="Plus Jakarta Sans"/>
              </a:defRPr>
            </a:pPr>
            <a:r>
              <a:t>No inicio do projeto.</a:t>
            </a:r>
            <a:br/>
            <a:r>
              <a:t>Reavaliacao apos qualificacao</a:t>
            </a:r>
            <a:br/>
            <a:r>
              <a:t>ou se mudar pergunta.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9718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C5B358"/>
                </a:solidFill>
                <a:latin typeface="Plus Jakarta Sans"/>
              </a:defRPr>
            </a:pPr>
            <a:r>
              <a:t>PROMPT TEMPLATE  •  copie, ajuste e cole no Claude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3246120"/>
            <a:ext cx="10515600" cy="1417320"/>
          </a:xfrm>
          <a:prstGeom prst="roundRect">
            <a:avLst/>
          </a:prstGeom>
          <a:solidFill>
            <a:srgbClr val="0B2823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383280"/>
            <a:ext cx="101498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D4C878"/>
                </a:solidFill>
                <a:latin typeface="IBM Plex Mono"/>
              </a:defRPr>
            </a:pPr>
            <a:r>
              <a:t>methodology-advisor: minha pergunta de pesquisa e</a:t>
            </a:r>
            <a:br/>
            <a:r>
              <a:t>"{PERGUNTA}". Pretendo investigar {OBJETO}. Tenho</a:t>
            </a:r>
            <a:br/>
            <a:r>
              <a:t>{TEMPO} ate qualificacao e {RESTRICAO_DE_CAMPO}.</a:t>
            </a:r>
            <a:br/>
            <a:br/>
            <a:r>
              <a:t>Apresente 3 alternativas metodologicas (qual/quant/misto)</a:t>
            </a:r>
            <a:br/>
            <a:r>
              <a:t>com paradigma, instrumentos, autores canonicos e os</a:t>
            </a:r>
            <a:br/>
            <a:r>
              <a:t>3 pontos mais provaveis de critica da banca.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4846320"/>
            <a:ext cx="3383280" cy="1417320"/>
          </a:xfrm>
          <a:prstGeom prst="roundRect">
            <a:avLst/>
          </a:prstGeom>
          <a:solidFill>
            <a:srgbClr val="F4F1EA"/>
          </a:solidFill>
          <a:ln w="6350">
            <a:solidFill>
              <a:srgbClr val="2D6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9377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2D6E43"/>
                </a:solidFill>
                <a:latin typeface="Plus Jakarta Sans"/>
              </a:defRPr>
            </a:pPr>
            <a:r>
              <a:t>✓ SAIDA ESPERADA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166360"/>
            <a:ext cx="32004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4A4A4A"/>
                </a:solidFill>
                <a:latin typeface="Plus Jakarta Sans"/>
              </a:defRPr>
            </a:pPr>
            <a:r>
              <a:t>3 alternativas comparadas:</a:t>
            </a:r>
            <a:br/>
            <a:r>
              <a:t>paradigma, estrategia, amostra,</a:t>
            </a:r>
            <a:br/>
            <a:r>
              <a:t>instrumentos, autores de</a:t>
            </a:r>
            <a:br/>
            <a:r>
              <a:t>referencia. Recomendacao</a:t>
            </a:r>
            <a:br/>
            <a:r>
              <a:t>final justificada em 5 linhas.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846320"/>
            <a:ext cx="3383280" cy="1417320"/>
          </a:xfrm>
          <a:prstGeom prst="roundRect">
            <a:avLst/>
          </a:prstGeom>
          <a:solidFill>
            <a:srgbClr val="F4F1EA"/>
          </a:solidFill>
          <a:ln w="6350">
            <a:solidFill>
              <a:srgbClr val="3A56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49377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C5B358"/>
                </a:solidFill>
                <a:latin typeface="Plus Jakarta Sans"/>
              </a:defRPr>
            </a:pPr>
            <a:r>
              <a:t>→ PROXIMO PASSO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32004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4A4A4A"/>
                </a:solidFill>
                <a:latin typeface="Plus Jakarta Sans"/>
              </a:defRPr>
            </a:pPr>
            <a:r>
              <a:t>Voce escolhe uma.</a:t>
            </a:r>
            <a:br/>
            <a:r>
              <a:t>methodology-advisor preenche</a:t>
            </a:r>
            <a:br/>
            <a:r>
              <a:t>memory/project_methodology.md</a:t>
            </a:r>
            <a:br/>
            <a:r>
              <a:t>com paradigma + instrumentos +</a:t>
            </a:r>
            <a:br/>
            <a:r>
              <a:t>validade declarada.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4846320"/>
            <a:ext cx="3383280" cy="1417320"/>
          </a:xfrm>
          <a:prstGeom prst="roundRect">
            <a:avLst/>
          </a:prstGeom>
          <a:solidFill>
            <a:srgbClr val="F4F1EA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49377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Plus Jakarta Sans"/>
              </a:defRPr>
            </a:pPr>
            <a:r>
              <a:t>✗ ANTI-PADRAO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5166360"/>
            <a:ext cx="32004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4A4A4A"/>
                </a:solidFill>
                <a:latin typeface="Plus Jakarta Sans"/>
              </a:defRPr>
            </a:pPr>
            <a:r>
              <a:t>Pedir "qual metodologia</a:t>
            </a:r>
            <a:br/>
            <a:r>
              <a:t>usar?" sem dar pergunta de</a:t>
            </a:r>
            <a:br/>
            <a:r>
              <a:t>pesquisa, restricoes e</a:t>
            </a:r>
            <a:br/>
            <a:r>
              <a:t>objetivos. O agente vai</a:t>
            </a:r>
            <a:br/>
            <a:r>
              <a:t>responder no vacuo.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Plus Jakarta Sans"/>
              </a:defRPr>
            </a:pPr>
            <a:r>
              <a:t>Manual de Uso  |  Agent Study Assistant  |  Verticalis AI Journey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IBM Plex Mono"/>
              </a:defRPr>
            </a:pPr>
            <a: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486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D4C878"/>
                </a:solidFill>
                <a:latin typeface="IBM Plex Mono"/>
              </a:defRPr>
            </a:pPr>
            <a:r>
              <a:t>03.3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60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Plus Jakarta Sans"/>
              </a:defRPr>
            </a:pPr>
            <a:r>
              <a:t>FASE 3 — DIGESTAO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600200"/>
            <a:ext cx="914400" cy="381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920240"/>
            <a:ext cx="5120640" cy="91440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C5B358"/>
                </a:solidFill>
                <a:latin typeface="Plus Jakarta Sans"/>
              </a:defRPr>
            </a:pPr>
            <a:r>
              <a:t>AGENTES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860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00"/>
              </a:lnSpc>
              <a:defRPr sz="1300" b="1">
                <a:solidFill>
                  <a:srgbClr val="FFFFFF"/>
                </a:solidFill>
                <a:latin typeface="IBM Plex Mono"/>
              </a:defRPr>
            </a:pPr>
            <a:r>
              <a:t>knowledge-architect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920240"/>
            <a:ext cx="5120640" cy="91440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C5B358"/>
                </a:solidFill>
                <a:latin typeface="Plus Jakarta Sans"/>
              </a:defRPr>
            </a:pPr>
            <a:r>
              <a:t>QUANDO ACIONAR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2860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00"/>
              </a:lnSpc>
              <a:defRPr sz="1200" b="0">
                <a:solidFill>
                  <a:srgbClr val="CCCCCC"/>
                </a:solidFill>
                <a:latin typeface="Plus Jakarta Sans"/>
              </a:defRPr>
            </a:pPr>
            <a:r>
              <a:t>A cada leitura concluida.</a:t>
            </a:r>
            <a:br/>
            <a:r>
              <a:t>Rito quinzenal de promocao</a:t>
            </a:r>
            <a:br/>
            <a:r>
              <a:t>de notas raw → connected.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718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D4C878"/>
                </a:solidFill>
                <a:latin typeface="Plus Jakarta Sans"/>
              </a:defRPr>
            </a:pPr>
            <a:r>
              <a:t>PROMPT TEMPLATE  •  copie, ajuste e cole no 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246120"/>
            <a:ext cx="10515600" cy="1417320"/>
          </a:xfrm>
          <a:prstGeom prst="roundRect">
            <a:avLst/>
          </a:prstGeom>
          <a:solidFill>
            <a:srgbClr val="0B2823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383280"/>
            <a:ext cx="101498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D4C878"/>
                </a:solidFill>
                <a:latin typeface="IBM Plex Mono"/>
              </a:defRPr>
            </a:pPr>
            <a:r>
              <a:t>knowledge-architect: acabei de ler {AUTOR (ANO)}</a:t>
            </a:r>
            <a:br/>
            <a:r>
              <a:t>"{TITULO}". Aqui esta meu fichamento bruto:</a:t>
            </a:r>
            <a:br/>
            <a:br/>
            <a:r>
              <a:t>{COLE FICHAMENTO}</a:t>
            </a:r>
            <a:br/>
            <a:br/>
            <a:r>
              <a:t>Por favor:</a:t>
            </a:r>
            <a:br/>
            <a:r>
              <a:t>1) Crie as notas atomicas necessarias em</a:t>
            </a:r>
            <a:br/>
            <a:r>
              <a:t>   Notas-Atomicas/permanent/</a:t>
            </a:r>
            <a:br/>
            <a:r>
              <a:t>2) Linke bidirecionalmente com 2-5 notas existentes</a:t>
            </a:r>
            <a:br/>
            <a:r>
              <a:t>3) Atualize a MOC do tema se ja houver massa critica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4846320"/>
            <a:ext cx="3383280" cy="141732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2D6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9377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2D6E43"/>
                </a:solidFill>
                <a:latin typeface="Plus Jakarta Sans"/>
              </a:defRPr>
            </a:pPr>
            <a:r>
              <a:t>✓ SAIDA ESPERADA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32004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3-5 notas atomicas em</a:t>
            </a:r>
            <a:br/>
            <a:r>
              <a:t>Notas-Atomicas/permanent/</a:t>
            </a:r>
            <a:br/>
            <a:r>
              <a:t>{ts}-{slug}.md, cada uma com</a:t>
            </a:r>
            <a:br/>
            <a:r>
              <a:t>frontmatter YAML + 2 links</a:t>
            </a:r>
            <a:br/>
            <a:r>
              <a:t>bidirecionais minimos.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4846320"/>
            <a:ext cx="3383280" cy="141732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9377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C5B358"/>
                </a:solidFill>
                <a:latin typeface="Plus Jakarta Sans"/>
              </a:defRPr>
            </a:pPr>
            <a:r>
              <a:t>→ PROXIMO PASSO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5166360"/>
            <a:ext cx="32004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Revisar links sugeridos</a:t>
            </a:r>
            <a:br/>
            <a:r>
              <a:t>(o agente as vezes erra).</a:t>
            </a:r>
            <a:br/>
            <a:r>
              <a:t>Promover status de raw para</a:t>
            </a:r>
            <a:br/>
            <a:r>
              <a:t>refined depois de 1 semana,</a:t>
            </a:r>
            <a:br/>
            <a:r>
              <a:t>para connected apos 2 links.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846320"/>
            <a:ext cx="3383280" cy="141732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9377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Plus Jakarta Sans"/>
              </a:defRPr>
            </a:pPr>
            <a:r>
              <a:t>✗ ANTI-PADRAO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5166360"/>
            <a:ext cx="32004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Aceitar nota com mais de</a:t>
            </a:r>
            <a:br/>
            <a:r>
              <a:t>uma ideia. Se tem dois</a:t>
            </a:r>
            <a:br/>
            <a:r>
              <a:t>argumentos independentes,</a:t>
            </a:r>
            <a:br/>
            <a:r>
              <a:t>PEDIR para dividir.</a:t>
            </a:r>
            <a:br/>
            <a:r>
              <a:t>Atomicidade e sagrada.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888888"/>
                </a:solidFill>
                <a:latin typeface="Plus Jakarta Sans"/>
              </a:defRPr>
            </a:pPr>
            <a:r>
              <a:t>Manual de Uso  |  Agent Study Assistant  |  Verticalis AI Journey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888888"/>
                </a:solidFill>
                <a:latin typeface="IBM Plex Mono"/>
              </a:defRPr>
            </a:pPr>
            <a: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C5B358"/>
                </a:solidFill>
                <a:latin typeface="Plus Jakarta Sans"/>
              </a:defRPr>
            </a:pPr>
            <a:r>
              <a:t>03.4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1E1E1E"/>
                </a:solidFill>
                <a:latin typeface="Plus Jakarta Sans"/>
              </a:defRPr>
            </a:pPr>
            <a:r>
              <a:t>FASE 4 — PRODUCAO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600200"/>
            <a:ext cx="914400" cy="38100"/>
          </a:xfrm>
          <a:prstGeom prst="rect">
            <a:avLst/>
          </a:prstGeom>
          <a:solidFill>
            <a:srgbClr val="0B2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920240"/>
            <a:ext cx="5120640" cy="914400"/>
          </a:xfrm>
          <a:prstGeom prst="roundRect">
            <a:avLst/>
          </a:prstGeom>
          <a:solidFill>
            <a:srgbClr val="F4F1EA"/>
          </a:solidFill>
          <a:ln w="635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C5B358"/>
                </a:solidFill>
                <a:latin typeface="Plus Jakarta Sans"/>
              </a:defRPr>
            </a:pPr>
            <a:r>
              <a:t>AGENTES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2860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00"/>
              </a:lnSpc>
              <a:defRPr sz="1300" b="1">
                <a:solidFill>
                  <a:srgbClr val="1E1E1E"/>
                </a:solidFill>
                <a:latin typeface="IBM Plex Mono"/>
              </a:defRPr>
            </a:pPr>
            <a:r>
              <a:t>academic-writer</a:t>
            </a:r>
            <a:br/>
            <a:r>
              <a:t>citation-manager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920240"/>
            <a:ext cx="5120640" cy="914400"/>
          </a:xfrm>
          <a:prstGeom prst="roundRect">
            <a:avLst/>
          </a:prstGeom>
          <a:solidFill>
            <a:srgbClr val="F4F1EA"/>
          </a:solidFill>
          <a:ln w="635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C5B358"/>
                </a:solidFill>
                <a:latin typeface="Plus Jakarta Sans"/>
              </a:defRPr>
            </a:pPr>
            <a:r>
              <a:t>QUANDO ACIONAR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860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00"/>
              </a:lnSpc>
              <a:defRPr sz="1200" b="0">
                <a:solidFill>
                  <a:srgbClr val="4A4A4A"/>
                </a:solidFill>
                <a:latin typeface="Plus Jakarta Sans"/>
              </a:defRPr>
            </a:pPr>
            <a:r>
              <a:t>Sprints de redacao.</a:t>
            </a:r>
            <a:br/>
            <a:r>
              <a:t>Quando voce tiver 8-12 notas</a:t>
            </a:r>
            <a:br/>
            <a:r>
              <a:t>conectadas sobre um sub-tema.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9718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C5B358"/>
                </a:solidFill>
                <a:latin typeface="Plus Jakarta Sans"/>
              </a:defRPr>
            </a:pPr>
            <a:r>
              <a:t>PROMPT TEMPLATE  •  copie, ajuste e cole no Claude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3246120"/>
            <a:ext cx="10515600" cy="1417320"/>
          </a:xfrm>
          <a:prstGeom prst="roundRect">
            <a:avLst/>
          </a:prstGeom>
          <a:solidFill>
            <a:srgbClr val="0B2823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383280"/>
            <a:ext cx="101498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D4C878"/>
                </a:solidFill>
                <a:latin typeface="IBM Plex Mono"/>
              </a:defRPr>
            </a:pPr>
            <a:r>
              <a:t>academic-writer: redija o esqueleto da secao 2.3 do meu</a:t>
            </a:r>
            <a:br/>
            <a:r>
              <a:t>capitulo 2, partindo destas notas atomicas conectadas:</a:t>
            </a:r>
            <a:br/>
            <a:r>
              <a:t>[[202604201430-poder-disciplinar]]</a:t>
            </a:r>
            <a:br/>
            <a:r>
              <a:t>[[202604180900-zuboff-vigilancia]]</a:t>
            </a:r>
            <a:br/>
            <a:r>
              <a:t>[[...]]</a:t>
            </a:r>
            <a:br/>
            <a:br/>
            <a:r>
              <a:t>Use estrutura tese &gt; evidencia &gt; contraponto &gt; sintese.</a:t>
            </a:r>
            <a:br/>
            <a:r>
              <a:t>Limite 1500 palavras. Marque [CITAR: ...] onde faltar fonte.</a:t>
            </a:r>
            <a:br/>
            <a:r>
              <a:t>Em seguida, citation-manager formata as referencias usadas.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4846320"/>
            <a:ext cx="3383280" cy="1417320"/>
          </a:xfrm>
          <a:prstGeom prst="roundRect">
            <a:avLst/>
          </a:prstGeom>
          <a:solidFill>
            <a:srgbClr val="F4F1EA"/>
          </a:solidFill>
          <a:ln w="6350">
            <a:solidFill>
              <a:srgbClr val="2D6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9377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2D6E43"/>
                </a:solidFill>
                <a:latin typeface="Plus Jakarta Sans"/>
              </a:defRPr>
            </a:pPr>
            <a:r>
              <a:t>✓ SAIDA ESPERADA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166360"/>
            <a:ext cx="32004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4A4A4A"/>
                </a:solidFill>
                <a:latin typeface="Plus Jakarta Sans"/>
              </a:defRPr>
            </a:pPr>
            <a:r>
              <a:t>Rascunho .md em</a:t>
            </a:r>
            <a:br/>
            <a:r>
              <a:t>01_Projects/{atual}/drafts/</a:t>
            </a:r>
            <a:br/>
            <a:r>
              <a:t>com 1500 palavras, marcacoes</a:t>
            </a:r>
            <a:br/>
            <a:r>
              <a:t>[CITAR: ...] explicitas</a:t>
            </a:r>
            <a:br/>
            <a:r>
              <a:t>onde falta fonte.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846320"/>
            <a:ext cx="3383280" cy="1417320"/>
          </a:xfrm>
          <a:prstGeom prst="roundRect">
            <a:avLst/>
          </a:prstGeom>
          <a:solidFill>
            <a:srgbClr val="F4F1EA"/>
          </a:solidFill>
          <a:ln w="6350">
            <a:solidFill>
              <a:srgbClr val="0B28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49377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C5B358"/>
                </a:solidFill>
                <a:latin typeface="Plus Jakarta Sans"/>
              </a:defRPr>
            </a:pPr>
            <a:r>
              <a:t>→ PROXIMO PASSO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32004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4A4A4A"/>
                </a:solidFill>
                <a:latin typeface="Plus Jakarta Sans"/>
              </a:defRPr>
            </a:pPr>
            <a:r>
              <a:t>1) Revisar onde aparece</a:t>
            </a:r>
            <a:br/>
            <a:r>
              <a:t>   [CITAR: ...]</a:t>
            </a:r>
            <a:br/>
            <a:r>
              <a:t>2) Acionar academic-researcher</a:t>
            </a:r>
            <a:br/>
            <a:r>
              <a:t>   para preencher</a:t>
            </a:r>
            <a:br/>
            <a:r>
              <a:t>3) Iterar 1-2x antes de</a:t>
            </a:r>
            <a:br/>
            <a:r>
              <a:t>   acionar fase 5 (polimento)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4846320"/>
            <a:ext cx="3383280" cy="1417320"/>
          </a:xfrm>
          <a:prstGeom prst="roundRect">
            <a:avLst/>
          </a:prstGeom>
          <a:solidFill>
            <a:srgbClr val="F4F1EA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49377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Plus Jakarta Sans"/>
              </a:defRPr>
            </a:pPr>
            <a:r>
              <a:t>✗ ANTI-PADRAO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5166360"/>
            <a:ext cx="32004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4A4A4A"/>
                </a:solidFill>
                <a:latin typeface="Plus Jakarta Sans"/>
              </a:defRPr>
            </a:pPr>
            <a:r>
              <a:t>Pedir o capitulo inteiro</a:t>
            </a:r>
            <a:br/>
            <a:r>
              <a:t>de uma vez. Quebre por</a:t>
            </a:r>
            <a:br/>
            <a:r>
              <a:t>secao (1.500-2.000 palavras).</a:t>
            </a:r>
            <a:br/>
            <a:r>
              <a:t>Cada secao iterada, depois</a:t>
            </a:r>
            <a:br/>
            <a:r>
              <a:t>costure. Resultado e melhor.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Plus Jakarta Sans"/>
              </a:defRPr>
            </a:pPr>
            <a:r>
              <a:t>Manual de Uso  |  Agent Study Assistant  |  Verticalis AI Journey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IBM Plex Mono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486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D4C878"/>
                </a:solidFill>
                <a:latin typeface="IBM Plex Mono"/>
              </a:defRPr>
            </a:pPr>
            <a:r>
              <a:t>03.5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60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Plus Jakarta Sans"/>
              </a:defRPr>
            </a:pPr>
            <a:r>
              <a:t>FASE 5 — POLIMENTO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600200"/>
            <a:ext cx="914400" cy="38100"/>
          </a:xfrm>
          <a:prstGeom prst="rect">
            <a:avLst/>
          </a:prstGeom>
          <a:solidFill>
            <a:srgbClr val="2D6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920240"/>
            <a:ext cx="5120640" cy="91440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2D6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C5B358"/>
                </a:solidFill>
                <a:latin typeface="Plus Jakarta Sans"/>
              </a:defRPr>
            </a:pPr>
            <a:r>
              <a:t>AGENTES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860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00"/>
              </a:lnSpc>
              <a:defRPr sz="1300" b="1">
                <a:solidFill>
                  <a:srgbClr val="FFFFFF"/>
                </a:solidFill>
                <a:latin typeface="IBM Plex Mono"/>
              </a:defRPr>
            </a:pPr>
            <a:r>
              <a:t>ai-pattern-auditor</a:t>
            </a:r>
            <a:br/>
            <a:r>
              <a:t>voice-humanizer</a:t>
            </a:r>
            <a:br/>
            <a:r>
              <a:t>peer-reviewer</a:t>
            </a:r>
            <a:br/>
            <a:r>
              <a:t>(NESTA ORDEM)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920240"/>
            <a:ext cx="5120640" cy="91440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2D6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C5B358"/>
                </a:solidFill>
                <a:latin typeface="Plus Jakarta Sans"/>
              </a:defRPr>
            </a:pPr>
            <a:r>
              <a:t>QUANDO ACIONAR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2860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00"/>
              </a:lnSpc>
              <a:defRPr sz="1200" b="0">
                <a:solidFill>
                  <a:srgbClr val="CCCCCC"/>
                </a:solidFill>
                <a:latin typeface="Plus Jakarta Sans"/>
              </a:defRPr>
            </a:pPr>
            <a:r>
              <a:t>ANTES de qualquer</a:t>
            </a:r>
            <a:br/>
            <a:r>
              <a:t>submissao: orientador,</a:t>
            </a:r>
            <a:br/>
            <a:r>
              <a:t>banca, periodico.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718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D4C878"/>
                </a:solidFill>
                <a:latin typeface="Plus Jakarta Sans"/>
              </a:defRPr>
            </a:pPr>
            <a:r>
              <a:t>PROMPT TEMPLATE  •  copie, ajuste e cole no 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246120"/>
            <a:ext cx="10515600" cy="1417320"/>
          </a:xfrm>
          <a:prstGeom prst="roundRect">
            <a:avLst/>
          </a:prstGeom>
          <a:solidFill>
            <a:srgbClr val="0B2823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383280"/>
            <a:ext cx="101498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D4C878"/>
                </a:solidFill>
                <a:latin typeface="IBM Plex Mono"/>
              </a:defRPr>
            </a:pPr>
            <a:r>
              <a:t># Sequencia obrigatoria — execute em ordem:</a:t>
            </a:r>
            <a:br/>
            <a:br/>
            <a:r>
              <a:t>1. source-validator: audite todas as citacoes do arquivo</a:t>
            </a:r>
            <a:br/>
            <a:r>
              <a:t>   drafts/cap2-secao3.md.</a:t>
            </a:r>
            <a:br/>
            <a:br/>
            <a:r>
              <a:t>2. ai-pattern-auditor: gere mapa de calor paragrafo a</a:t>
            </a:r>
            <a:br/>
            <a:r>
              <a:t>   paragrafo, comparando com memory/user_writing_voice.md</a:t>
            </a:r>
            <a:br/>
            <a:br/>
            <a:r>
              <a:t>3. voice-humanizer: reescreva os paragrafos 🔴 e 🟠</a:t>
            </a:r>
            <a:br/>
            <a:r>
              <a:t>   apontados pelo auditor, em colaboracao comigo.</a:t>
            </a:r>
            <a:br/>
            <a:br/>
            <a:r>
              <a:t>4. peer-reviewer: simule banca e gere 10 piores perguntas.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4846320"/>
            <a:ext cx="3383280" cy="141732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2D6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9377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2D6E43"/>
                </a:solidFill>
                <a:latin typeface="Plus Jakarta Sans"/>
              </a:defRPr>
            </a:pPr>
            <a:r>
              <a:t>✓ SAIDA ESPERADA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32004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Quatro outputs em sequencia:</a:t>
            </a:r>
            <a:br/>
            <a:r>
              <a:t>✓ validacao de citacoes</a:t>
            </a:r>
            <a:br/>
            <a:r>
              <a:t>✓ heatmap com score 0-10</a:t>
            </a:r>
            <a:br/>
            <a:r>
              <a:t>✓ draft reescrito na sua voz</a:t>
            </a:r>
            <a:br/>
            <a:r>
              <a:t>✓ relatorio peer + 10 perguntas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4846320"/>
            <a:ext cx="3383280" cy="141732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2D6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9377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C5B358"/>
                </a:solidFill>
                <a:latin typeface="Plus Jakarta Sans"/>
              </a:defRPr>
            </a:pPr>
            <a:r>
              <a:t>→ PROXIMO PASSO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5166360"/>
            <a:ext cx="32004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Submeter ao orientador.</a:t>
            </a:r>
            <a:br/>
            <a:r>
              <a:t>Salvar peer-review/{data}.md</a:t>
            </a:r>
            <a:br/>
            <a:r>
              <a:t>como historico. Atualizar</a:t>
            </a:r>
            <a:br/>
            <a:r>
              <a:t>memory/banca_questions.md</a:t>
            </a:r>
            <a:br/>
            <a:r>
              <a:t>para preparar a defesa.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846320"/>
            <a:ext cx="3383280" cy="1417320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9377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Plus Jakarta Sans"/>
              </a:defRPr>
            </a:pPr>
            <a:r>
              <a:t>✗ ANTI-PADRAO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5166360"/>
            <a:ext cx="32004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Pular o auditor e ir direto</a:t>
            </a:r>
            <a:br/>
            <a:r>
              <a:t>ao humanizer. O auditor da</a:t>
            </a:r>
            <a:br/>
            <a:r>
              <a:t>FOCO para a reescrita —</a:t>
            </a:r>
            <a:br/>
            <a:r>
              <a:t>sem ele, voce reescreve</a:t>
            </a:r>
            <a:br/>
            <a:r>
              <a:t>no escuro e desperdica esforco.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888888"/>
                </a:solidFill>
                <a:latin typeface="Plus Jakarta Sans"/>
              </a:defRPr>
            </a:pPr>
            <a:r>
              <a:t>Manual de Uso  |  Agent Study Assistant  |  Verticalis AI Journey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888888"/>
                </a:solidFill>
                <a:latin typeface="IBM Plex Mono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C5B358"/>
                </a:solidFill>
                <a:latin typeface="Plus Jakarta Sans"/>
              </a:defRPr>
            </a:pPr>
            <a:r>
              <a:t>04.1  RITMO DIARIO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000" b="1">
                <a:solidFill>
                  <a:srgbClr val="1E1E1E"/>
                </a:solidFill>
                <a:latin typeface="Plus Jakarta Sans"/>
              </a:defRPr>
            </a:pPr>
            <a:r>
              <a:t>30 minutos por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Plus Jakarta Sans"/>
              </a:defRPr>
            </a:pPr>
            <a:r>
              <a:t>Constancia importa mais que volume. Faca pouco mas todo dia.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5486400" cy="182880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5486400" cy="381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606040"/>
            <a:ext cx="1280160" cy="3657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609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BM Plex Mono"/>
              </a:defRPr>
            </a:pPr>
            <a:r>
              <a:t>0-5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6243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1">
                <a:solidFill>
                  <a:srgbClr val="1E1E1E"/>
                </a:solidFill>
                <a:latin typeface="Plus Jakarta Sans"/>
              </a:defRPr>
            </a:pPr>
            <a:r>
              <a:t>Capturar no Inbox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  <a:defRPr sz="1100" b="0">
                <a:solidFill>
                  <a:srgbClr val="4A4A4A"/>
                </a:solidFill>
                <a:latin typeface="Plus Jakarta Sans"/>
              </a:defRPr>
            </a:pPr>
            <a:r>
              <a:t>Tudo que apareceu hoje: PDF, foto,</a:t>
            </a:r>
            <a:br/>
            <a:r>
              <a:t>snippet, audio. Sem julgamento.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C0392B"/>
                </a:solidFill>
                <a:latin typeface="IBM Plex Mono"/>
              </a:defRPr>
            </a:pPr>
            <a:r>
              <a:t>→ 00_Inbox/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331720"/>
            <a:ext cx="5486400" cy="182880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331720"/>
            <a:ext cx="5486400" cy="38100"/>
          </a:xfrm>
          <a:prstGeom prst="rect">
            <a:avLst/>
          </a:prstGeom>
          <a:solidFill>
            <a:srgbClr val="3A5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2606040"/>
            <a:ext cx="1280160" cy="365760"/>
          </a:xfrm>
          <a:prstGeom prst="roundRect">
            <a:avLst/>
          </a:prstGeom>
          <a:solidFill>
            <a:srgbClr val="3A5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6609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BM Plex Mono"/>
              </a:defRPr>
            </a:pPr>
            <a:r>
              <a:t>5-15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6243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1">
                <a:solidFill>
                  <a:srgbClr val="1E1E1E"/>
                </a:solidFill>
                <a:latin typeface="Plus Jakarta Sans"/>
              </a:defRPr>
            </a:pPr>
            <a:r>
              <a:t>Daily note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10896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  <a:defRPr sz="1100" b="0">
                <a:solidFill>
                  <a:srgbClr val="4A4A4A"/>
                </a:solidFill>
                <a:latin typeface="Plus Jakarta Sans"/>
              </a:defRPr>
            </a:pPr>
            <a:r>
              <a:t>Templater no Obsidian gera nota do dia</a:t>
            </a:r>
            <a:br/>
            <a:r>
              <a:t>com data + ideias rapidas.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7490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3A564E"/>
                </a:solidFill>
                <a:latin typeface="IBM Plex Mono"/>
              </a:defRPr>
            </a:pPr>
            <a:r>
              <a:t>→ Templater plugin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79"/>
            <a:ext cx="5486400" cy="182880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297679"/>
            <a:ext cx="5486400" cy="381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571999"/>
            <a:ext cx="1280160" cy="365760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62686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BM Plex Mono"/>
              </a:defRPr>
            </a:pPr>
            <a:r>
              <a:t>15-25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4590287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1">
                <a:solidFill>
                  <a:srgbClr val="1E1E1E"/>
                </a:solidFill>
                <a:latin typeface="Plus Jakarta Sans"/>
              </a:defRPr>
            </a:pPr>
            <a:r>
              <a:t>1 nota atomica nova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74919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  <a:defRPr sz="1100" b="0">
                <a:solidFill>
                  <a:srgbClr val="4A4A4A"/>
                </a:solidFill>
                <a:latin typeface="Plus Jakarta Sans"/>
              </a:defRPr>
            </a:pPr>
            <a:r>
              <a:t>knowledge-architect transforma a leitura</a:t>
            </a:r>
            <a:br/>
            <a:r>
              <a:t>do dia em pelo menos 1 nota.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71499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C5B358"/>
                </a:solidFill>
                <a:latin typeface="IBM Plex Mono"/>
              </a:defRPr>
            </a:pPr>
            <a:r>
              <a:t>→ knowledge-architect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4297679"/>
            <a:ext cx="5486400" cy="182880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4297679"/>
            <a:ext cx="5486400" cy="38100"/>
          </a:xfrm>
          <a:prstGeom prst="rect">
            <a:avLst/>
          </a:prstGeom>
          <a:solidFill>
            <a:srgbClr val="2D6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0" y="4571999"/>
            <a:ext cx="1280160" cy="365760"/>
          </a:xfrm>
          <a:prstGeom prst="roundRect">
            <a:avLst/>
          </a:prstGeom>
          <a:solidFill>
            <a:srgbClr val="2D6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62686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BM Plex Mono"/>
              </a:defRPr>
            </a:pPr>
            <a:r>
              <a:t>25-30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4590287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1">
                <a:solidFill>
                  <a:srgbClr val="1E1E1E"/>
                </a:solidFill>
                <a:latin typeface="Plus Jakarta Sans"/>
              </a:defRPr>
            </a:pPr>
            <a:r>
              <a:t>Revisar 1 nota antiga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074919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  <a:defRPr sz="1100" b="0">
                <a:solidFill>
                  <a:srgbClr val="4A4A4A"/>
                </a:solidFill>
                <a:latin typeface="Plus Jakarta Sans"/>
              </a:defRPr>
            </a:pPr>
            <a:r>
              <a:t>Abra uma nota com status connected</a:t>
            </a:r>
            <a:br/>
            <a:r>
              <a:t>de &gt;30 dias. Atualize ou link com nova.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71499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2D6E43"/>
                </a:solidFill>
                <a:latin typeface="IBM Plex Mono"/>
              </a:defRPr>
            </a:pPr>
            <a:r>
              <a:t>→ Notas-Atomicas/permanent/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97280" y="6263640"/>
            <a:ext cx="10515600" cy="365760"/>
          </a:xfrm>
          <a:prstGeom prst="roundRect">
            <a:avLst/>
          </a:prstGeom>
          <a:solidFill>
            <a:srgbClr val="0B2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630936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D4C878"/>
                </a:solidFill>
                <a:latin typeface="IBM Plex Mono"/>
              </a:defRPr>
            </a:pPr>
            <a:r>
              <a:t>TOTAL  •  30 minutos  •  Idealmente sempre no mesmo horario do dia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Plus Jakarta Sans"/>
              </a:defRPr>
            </a:pPr>
            <a:r>
              <a:t>Manual de Uso  |  Agent Study Assistant  |  Verticalis AI Journey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IBM Plex Mono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486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D4C878"/>
                </a:solidFill>
                <a:latin typeface="IBM Plex Mono"/>
              </a:defRPr>
            </a:pPr>
            <a:r>
              <a:t>04.2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601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Plus Jakarta Sans"/>
              </a:defRPr>
            </a:pPr>
            <a:r>
              <a:t>Ritmo SEMANAL — 1 hora aos domingos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600200"/>
            <a:ext cx="1097280" cy="381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Plus Jakarta Sans"/>
              </a:defRPr>
            </a:pPr>
            <a:r>
              <a:t>Manutencao e consolidacao do que foi capturado durante a semana.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331720"/>
            <a:ext cx="10515600" cy="713232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80160" y="2450592"/>
            <a:ext cx="868680" cy="457200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53288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0B2823"/>
                </a:solidFill>
                <a:latin typeface="IBM Plex Mono"/>
              </a:defRPr>
            </a:pPr>
            <a:r>
              <a:t>0-15min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240487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Plus Jakarta Sans"/>
              </a:defRPr>
            </a:pPr>
            <a:r>
              <a:t>Esvaziar Inbox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715768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CCCCCC"/>
                </a:solidFill>
                <a:latin typeface="Plus Jakarta Sans"/>
              </a:defRPr>
            </a:pPr>
            <a:r>
              <a:t>Cada item: arquivar, fichar ou descartar.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5603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C878"/>
                </a:solidFill>
                <a:latin typeface="IBM Plex Mono"/>
              </a:defRPr>
            </a:pPr>
            <a:r>
              <a:t>→ 00_Inbox/ → 03_Resources/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108960"/>
            <a:ext cx="10515600" cy="713232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280160" y="3227832"/>
            <a:ext cx="868680" cy="457200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31012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0B2823"/>
                </a:solidFill>
                <a:latin typeface="IBM Plex Mono"/>
              </a:defRPr>
            </a:pPr>
            <a:r>
              <a:t>15-30min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1821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Plus Jakarta Sans"/>
              </a:defRPr>
            </a:pPr>
            <a:r>
              <a:t>Atualizar biblio.bib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493008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CCCCCC"/>
                </a:solidFill>
                <a:latin typeface="Plus Jakarta Sans"/>
              </a:defRPr>
            </a:pPr>
            <a:r>
              <a:t>citation-manager processa novas fontes</a:t>
            </a:r>
            <a:br/>
            <a:r>
              <a:t>do PDFs/ que ainda nao tem .bib.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3375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C878"/>
                </a:solidFill>
                <a:latin typeface="IBM Plex Mono"/>
              </a:defRPr>
            </a:pPr>
            <a:r>
              <a:t>→ citation-manager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3886200"/>
            <a:ext cx="10515600" cy="713232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80160" y="4005072"/>
            <a:ext cx="868680" cy="457200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08736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0B2823"/>
                </a:solidFill>
                <a:latin typeface="IBM Plex Mono"/>
              </a:defRPr>
            </a:pPr>
            <a:r>
              <a:t>30-45min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95935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Plus Jakarta Sans"/>
              </a:defRPr>
            </a:pPr>
            <a:r>
              <a:t>Promover notas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4270248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CCCCCC"/>
                </a:solidFill>
                <a:latin typeface="Plus Jakarta Sans"/>
              </a:defRPr>
            </a:pPr>
            <a:r>
              <a:t>raw (&gt;7 dias) → refined.</a:t>
            </a:r>
            <a:br/>
            <a:r>
              <a:t>refined com 2 links → connected.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1148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C878"/>
                </a:solidFill>
                <a:latin typeface="IBM Plex Mono"/>
              </a:defRPr>
            </a:pPr>
            <a:r>
              <a:t>→ Notas-Atomicas/permanent/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" y="4663440"/>
            <a:ext cx="10515600" cy="713232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80160" y="4782312"/>
            <a:ext cx="868680" cy="457200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486460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0B2823"/>
                </a:solidFill>
                <a:latin typeface="IBM Plex Mono"/>
              </a:defRPr>
            </a:pPr>
            <a:r>
              <a:t>45-55min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473659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Plus Jakarta Sans"/>
              </a:defRPr>
            </a:pPr>
            <a:r>
              <a:t>Atualizar MOCs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5047488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CCCCCC"/>
                </a:solidFill>
                <a:latin typeface="Plus Jakarta Sans"/>
              </a:defRPr>
            </a:pPr>
            <a:r>
              <a:t>Se algum tema tem 8+ notas conectadas,</a:t>
            </a:r>
            <a:br/>
            <a:r>
              <a:t>crie ou atualize Map of Content.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48920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C878"/>
                </a:solidFill>
                <a:latin typeface="IBM Plex Mono"/>
              </a:defRPr>
            </a:pPr>
            <a:r>
              <a:t>→ Notas-Atomicas/index/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7280" y="5440679"/>
            <a:ext cx="10515600" cy="713232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280160" y="5559551"/>
            <a:ext cx="868680" cy="457200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80160" y="5641847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0B2823"/>
                </a:solidFill>
                <a:latin typeface="IBM Plex Mono"/>
              </a:defRPr>
            </a:pPr>
            <a:r>
              <a:t>55-60min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5513831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Plus Jakarta Sans"/>
              </a:defRPr>
            </a:pPr>
            <a:r>
              <a:t>Planejar a semana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824727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CCCCCC"/>
                </a:solidFill>
                <a:latin typeface="Plus Jakarta Sans"/>
              </a:defRPr>
            </a:pPr>
            <a:r>
              <a:t>Definir prioridade da semana:</a:t>
            </a:r>
            <a:br/>
            <a:r>
              <a:t>leitura, redacao, fonte, peer review.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566927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C878"/>
                </a:solidFill>
                <a:latin typeface="IBM Plex Mono"/>
              </a:defRPr>
            </a:pPr>
            <a:r>
              <a:t>→ 01_Projects/{atual}/README.md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888888"/>
                </a:solidFill>
                <a:latin typeface="Plus Jakarta Sans"/>
              </a:defRPr>
            </a:pPr>
            <a:r>
              <a:t>Manual de Uso  |  Agent Study Assistant  |  Verticalis AI Journey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888888"/>
                </a:solidFill>
                <a:latin typeface="IBM Plex Mono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C5B358"/>
                </a:solidFill>
                <a:latin typeface="Plus Jakarta Sans"/>
              </a:defRPr>
            </a:pPr>
            <a:r>
              <a:t>04.3  RITMO POR SPRINT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1E1E1E"/>
                </a:solidFill>
                <a:latin typeface="Plus Jakarta Sans"/>
              </a:defRPr>
            </a:pPr>
            <a:r>
              <a:t>Sprint de capitulo — 1 a 2 semanas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Plus Jakarta Sans"/>
              </a:defRPr>
            </a:pPr>
            <a:r>
              <a:t>Quando voce decide redigir uma secao ou capitulo. Inicie quando ha massa critica de notas.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3657600" cy="118872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868680" cy="1188720"/>
          </a:xfrm>
          <a:prstGeom prst="roundRect">
            <a:avLst/>
          </a:prstGeom>
          <a:solidFill>
            <a:srgbClr val="0B2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D4C878"/>
                </a:solidFill>
                <a:latin typeface="IBM Plex Mono"/>
              </a:defRPr>
            </a:pPr>
            <a:r>
              <a:t>D1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46888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1E1E1E"/>
                </a:solidFill>
                <a:latin typeface="Plus Jakarta Sans"/>
              </a:defRPr>
            </a:pPr>
            <a:r>
              <a:t>Selecionar notas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74320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  <a:defRPr sz="900" b="0">
                <a:solidFill>
                  <a:srgbClr val="4A4A4A"/>
                </a:solidFill>
                <a:latin typeface="Plus Jakarta Sans"/>
              </a:defRPr>
            </a:pPr>
            <a:r>
              <a:t>Escolher 8-12 notas atomicas</a:t>
            </a:r>
            <a:br/>
            <a:r>
              <a:t>conectadas sobre o tema da secao.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29184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00" b="1">
                <a:solidFill>
                  <a:srgbClr val="C5B358"/>
                </a:solidFill>
                <a:latin typeface="IBM Plex Mono"/>
              </a:defRPr>
            </a:pPr>
            <a:r>
              <a:t>→ knowledge-architect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2377440"/>
            <a:ext cx="3657600" cy="118872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60" y="2377440"/>
            <a:ext cx="868680" cy="1188720"/>
          </a:xfrm>
          <a:prstGeom prst="roundRect">
            <a:avLst/>
          </a:prstGeom>
          <a:solidFill>
            <a:srgbClr val="0B2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8346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D4C878"/>
                </a:solidFill>
                <a:latin typeface="IBM Plex Mono"/>
              </a:defRPr>
            </a:pPr>
            <a:r>
              <a:t>D2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246888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1E1E1E"/>
                </a:solidFill>
                <a:latin typeface="Plus Jakarta Sans"/>
              </a:defRPr>
            </a:pPr>
            <a:r>
              <a:t>Esqueleto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74320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  <a:defRPr sz="900" b="0">
                <a:solidFill>
                  <a:srgbClr val="4A4A4A"/>
                </a:solidFill>
                <a:latin typeface="Plus Jakarta Sans"/>
              </a:defRPr>
            </a:pPr>
            <a:r>
              <a:t>academic-writer gera outline:</a:t>
            </a:r>
            <a:br/>
            <a:r>
              <a:t>tese de cada paragrafo + ordem.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329184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00" b="1">
                <a:solidFill>
                  <a:srgbClr val="C5B358"/>
                </a:solidFill>
                <a:latin typeface="IBM Plex Mono"/>
              </a:defRPr>
            </a:pPr>
            <a:r>
              <a:t>→ academic-writer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2377440"/>
            <a:ext cx="3657600" cy="118872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21040" y="2377440"/>
            <a:ext cx="868680" cy="1188720"/>
          </a:xfrm>
          <a:prstGeom prst="roundRect">
            <a:avLst/>
          </a:prstGeom>
          <a:solidFill>
            <a:srgbClr val="0B2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8346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D4C878"/>
                </a:solidFill>
                <a:latin typeface="IBM Plex Mono"/>
              </a:defRPr>
            </a:pPr>
            <a:r>
              <a:t>D3-D5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246888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1E1E1E"/>
                </a:solidFill>
                <a:latin typeface="Plus Jakarta Sans"/>
              </a:defRPr>
            </a:pPr>
            <a:r>
              <a:t>Redigir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274320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  <a:defRPr sz="900" b="0">
                <a:solidFill>
                  <a:srgbClr val="4A4A4A"/>
                </a:solidFill>
                <a:latin typeface="Plus Jakarta Sans"/>
              </a:defRPr>
            </a:pPr>
            <a:r>
              <a:t>Iterar redacao secao a secao.</a:t>
            </a:r>
            <a:br/>
            <a:r>
              <a:t>1500-2000 palavras por dia.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329184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00" b="1">
                <a:solidFill>
                  <a:srgbClr val="C5B358"/>
                </a:solidFill>
                <a:latin typeface="IBM Plex Mono"/>
              </a:defRPr>
            </a:pPr>
            <a:r>
              <a:t>→ academic-writer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703320"/>
            <a:ext cx="3657600" cy="118872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3703320"/>
            <a:ext cx="868680" cy="1188720"/>
          </a:xfrm>
          <a:prstGeom prst="roundRect">
            <a:avLst/>
          </a:prstGeom>
          <a:solidFill>
            <a:srgbClr val="0B2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D4C878"/>
                </a:solidFill>
                <a:latin typeface="IBM Plex Mono"/>
              </a:defRPr>
            </a:pPr>
            <a:r>
              <a:t>D6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379476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1E1E1E"/>
                </a:solidFill>
                <a:latin typeface="Plus Jakarta Sans"/>
              </a:defRPr>
            </a:pPr>
            <a:r>
              <a:t>Audit de fontes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06908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  <a:defRPr sz="900" b="0">
                <a:solidFill>
                  <a:srgbClr val="4A4A4A"/>
                </a:solidFill>
                <a:latin typeface="Plus Jakarta Sans"/>
              </a:defRPr>
            </a:pPr>
            <a:r>
              <a:t>source-validator audita cada</a:t>
            </a:r>
            <a:br/>
            <a:r>
              <a:t>citacao do draft.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461772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00" b="1">
                <a:solidFill>
                  <a:srgbClr val="C5B358"/>
                </a:solidFill>
                <a:latin typeface="IBM Plex Mono"/>
              </a:defRPr>
            </a:pPr>
            <a:r>
              <a:t>→ source-validator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80560" y="3703320"/>
            <a:ext cx="3657600" cy="118872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80560" y="3703320"/>
            <a:ext cx="868680" cy="1188720"/>
          </a:xfrm>
          <a:prstGeom prst="roundRect">
            <a:avLst/>
          </a:prstGeom>
          <a:solidFill>
            <a:srgbClr val="0B2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D4C878"/>
                </a:solidFill>
                <a:latin typeface="IBM Plex Mono"/>
              </a:defRPr>
            </a:pPr>
            <a:r>
              <a:t>D7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40680" y="379476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1E1E1E"/>
                </a:solidFill>
                <a:latin typeface="Plus Jakarta Sans"/>
              </a:defRPr>
            </a:pPr>
            <a:r>
              <a:t>Mapa de 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406908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  <a:defRPr sz="900" b="0">
                <a:solidFill>
                  <a:srgbClr val="4A4A4A"/>
                </a:solidFill>
                <a:latin typeface="Plus Jakarta Sans"/>
              </a:defRPr>
            </a:pPr>
            <a:r>
              <a:t>ai-pattern-auditor gera heatmap.</a:t>
            </a:r>
            <a:br/>
            <a:r>
              <a:t>Identificar paragrafos 🔴.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80" y="461772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00" b="1">
                <a:solidFill>
                  <a:srgbClr val="C5B358"/>
                </a:solidFill>
                <a:latin typeface="IBM Plex Mono"/>
              </a:defRPr>
            </a:pPr>
            <a:r>
              <a:t>→ ai-pattern-auditor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3703320"/>
            <a:ext cx="3657600" cy="118872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321040" y="3703320"/>
            <a:ext cx="868680" cy="1188720"/>
          </a:xfrm>
          <a:prstGeom prst="roundRect">
            <a:avLst/>
          </a:prstGeom>
          <a:solidFill>
            <a:srgbClr val="0B2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D4C878"/>
                </a:solidFill>
                <a:latin typeface="IBM Plex Mono"/>
              </a:defRPr>
            </a:pPr>
            <a:r>
              <a:t>D8-D10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60" y="379476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1E1E1E"/>
                </a:solidFill>
                <a:latin typeface="Plus Jakarta Sans"/>
              </a:defRPr>
            </a:pPr>
            <a:r>
              <a:t>Humanizar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81160" y="406908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  <a:defRPr sz="900" b="0">
                <a:solidFill>
                  <a:srgbClr val="4A4A4A"/>
                </a:solidFill>
                <a:latin typeface="Plus Jakarta Sans"/>
              </a:defRPr>
            </a:pPr>
            <a:r>
              <a:t>voice-humanizer reescreve</a:t>
            </a:r>
            <a:br/>
            <a:r>
              <a:t>focado nos 🔴 com sua voz.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1160" y="461772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00" b="1">
                <a:solidFill>
                  <a:srgbClr val="C5B358"/>
                </a:solidFill>
                <a:latin typeface="IBM Plex Mono"/>
              </a:defRPr>
            </a:pPr>
            <a:r>
              <a:t>→ voice-humanizer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5029200"/>
            <a:ext cx="3657600" cy="118872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0080" y="5029200"/>
            <a:ext cx="868680" cy="1188720"/>
          </a:xfrm>
          <a:prstGeom prst="roundRect">
            <a:avLst/>
          </a:prstGeom>
          <a:solidFill>
            <a:srgbClr val="0B2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54864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D4C878"/>
                </a:solidFill>
                <a:latin typeface="IBM Plex Mono"/>
              </a:defRPr>
            </a:pPr>
            <a:r>
              <a:t>D11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00200" y="512064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1E1E1E"/>
                </a:solidFill>
                <a:latin typeface="Plus Jakarta Sans"/>
              </a:defRPr>
            </a:pPr>
            <a:r>
              <a:t>Banca simulada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539496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  <a:defRPr sz="900" b="0">
                <a:solidFill>
                  <a:srgbClr val="4A4A4A"/>
                </a:solidFill>
                <a:latin typeface="Plus Jakarta Sans"/>
              </a:defRPr>
            </a:pPr>
            <a:r>
              <a:t>peer-reviewer aponta lacunas</a:t>
            </a:r>
            <a:br/>
            <a:r>
              <a:t>e 10 piores perguntas.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594360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00" b="1">
                <a:solidFill>
                  <a:srgbClr val="C5B358"/>
                </a:solidFill>
                <a:latin typeface="IBM Plex Mono"/>
              </a:defRPr>
            </a:pPr>
            <a:r>
              <a:t>→ peer-reviewer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80560" y="5029200"/>
            <a:ext cx="3657600" cy="118872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480560" y="5029200"/>
            <a:ext cx="868680" cy="1188720"/>
          </a:xfrm>
          <a:prstGeom prst="roundRect">
            <a:avLst/>
          </a:prstGeom>
          <a:solidFill>
            <a:srgbClr val="0B2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80560" y="54864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D4C878"/>
                </a:solidFill>
                <a:latin typeface="IBM Plex Mono"/>
              </a:defRPr>
            </a:pPr>
            <a:r>
              <a:t>D12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80" y="512064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1E1E1E"/>
                </a:solidFill>
                <a:latin typeface="Plus Jakarta Sans"/>
              </a:defRPr>
            </a:pPr>
            <a:r>
              <a:t>Iterar correcoes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80" y="539496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  <a:defRPr sz="900" b="0">
                <a:solidFill>
                  <a:srgbClr val="4A4A4A"/>
                </a:solidFill>
                <a:latin typeface="Plus Jakarta Sans"/>
              </a:defRPr>
            </a:pPr>
            <a:r>
              <a:t>Resolver criticas. Reaudit</a:t>
            </a:r>
            <a:br/>
            <a:r>
              <a:t>com auditor + voice se preciso.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594360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00" b="1">
                <a:solidFill>
                  <a:srgbClr val="C5B358"/>
                </a:solidFill>
                <a:latin typeface="IBM Plex Mono"/>
              </a:defRPr>
            </a:pPr>
            <a:r>
              <a:t>→ ciclo polimento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21040" y="5029200"/>
            <a:ext cx="3657600" cy="118872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321040" y="5029200"/>
            <a:ext cx="868680" cy="1188720"/>
          </a:xfrm>
          <a:prstGeom prst="roundRect">
            <a:avLst/>
          </a:prstGeom>
          <a:solidFill>
            <a:srgbClr val="0B2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21040" y="54864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D4C878"/>
                </a:solidFill>
                <a:latin typeface="IBM Plex Mono"/>
              </a:defRPr>
            </a:pPr>
            <a:r>
              <a:t>D14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81160" y="512064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1E1E1E"/>
                </a:solidFill>
                <a:latin typeface="Plus Jakarta Sans"/>
              </a:defRPr>
            </a:pPr>
            <a:r>
              <a:t>Submeter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81160" y="539496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  <a:defRPr sz="900" b="0">
                <a:solidFill>
                  <a:srgbClr val="4A4A4A"/>
                </a:solidFill>
                <a:latin typeface="Plus Jakarta Sans"/>
              </a:defRPr>
            </a:pPr>
            <a:r>
              <a:t>Versao final ao orientador</a:t>
            </a:r>
            <a:br/>
            <a:r>
              <a:t>ou periodico.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81160" y="594360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00" b="1">
                <a:solidFill>
                  <a:srgbClr val="C5B358"/>
                </a:solidFill>
                <a:latin typeface="IBM Plex Mono"/>
              </a:defRPr>
            </a:pPr>
            <a:r>
              <a:t>→ GO!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Plus Jakarta Sans"/>
              </a:defRPr>
            </a:pPr>
            <a:r>
              <a:t>Manual de Uso  |  Agent Study Assistant  |  Verticalis AI Journey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4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IBM Plex Mono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486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D4C878"/>
                </a:solidFill>
                <a:latin typeface="IBM Plex Mono"/>
              </a:defRPr>
            </a:pPr>
            <a:r>
              <a:t>04.4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601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Plus Jakarta Sans"/>
              </a:defRPr>
            </a:pPr>
            <a:r>
              <a:t>Pre-submissao — checklist final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600200"/>
            <a:ext cx="1097280" cy="381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Plus Jakarta Sans"/>
              </a:defRPr>
            </a:pPr>
            <a:r>
              <a:t>Antes de enviar para banca, periodico ou orientador. NAO PULE NENHUMA.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5486400" cy="713232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640080" cy="713232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3288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0B2823"/>
                </a:solidFill>
                <a:latin typeface="IBM Plex Mono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9572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source-validator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1576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Toda citacao verificada (✓/🟡/❌). Zero alucinacoes.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331720"/>
            <a:ext cx="5486400" cy="713232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2331720"/>
            <a:ext cx="640080" cy="713232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53288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0B2823"/>
                </a:solidFill>
                <a:latin typeface="IBM Plex Mono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39572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ai-pattern-auditor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71576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Score medio &lt; 4.0. Zero paragrafos 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08960"/>
            <a:ext cx="5486400" cy="713232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108960"/>
            <a:ext cx="640080" cy="713232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1012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0B2823"/>
                </a:solidFill>
                <a:latin typeface="IBM Plex Mono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17296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voice-humanizer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49300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Cada paragrafo voce defende em 30s oralmente.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108960"/>
            <a:ext cx="5486400" cy="713232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09360" y="3108960"/>
            <a:ext cx="640080" cy="713232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31012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0B2823"/>
                </a:solidFill>
                <a:latin typeface="IBM Plex Mono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317296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peer-reviewer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49300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10 piores perguntas listadas e respondidas.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886200"/>
            <a:ext cx="5486400" cy="713232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" y="3886200"/>
            <a:ext cx="640080" cy="713232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08736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0B2823"/>
                </a:solidFill>
                <a:latin typeface="IBM Plex Mono"/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95020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citation-manager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27024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biblio.bib formatado na norma exigida.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3886200"/>
            <a:ext cx="5486400" cy="713232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09360" y="3886200"/>
            <a:ext cx="640080" cy="713232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408736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0B2823"/>
                </a:solidFill>
                <a:latin typeface="IBM Plex Mono"/>
              </a:defRPr>
            </a:pPr>
            <a: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395020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Leitura humana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427024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Voce releu integralmente. Soa como voce.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4663440"/>
            <a:ext cx="5486400" cy="713232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" y="4663440"/>
            <a:ext cx="640080" cy="713232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86460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0B2823"/>
                </a:solidFill>
                <a:latin typeface="IBM Plex Mono"/>
              </a:defRPr>
            </a:pPr>
            <a: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17320" y="472744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Limites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50474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Palavras, paginas, formato dentro da especificacao.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09360" y="4663440"/>
            <a:ext cx="5486400" cy="713232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09360" y="4663440"/>
            <a:ext cx="640080" cy="713232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486460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0B2823"/>
                </a:solidFill>
                <a:latin typeface="IBM Plex Mono"/>
              </a:defRPr>
            </a:pPr>
            <a: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6600" y="472744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Etica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50474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CEP/CONEP aprovado se envolve humanos. TCLE incluido.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5440679"/>
            <a:ext cx="5486400" cy="713232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0080" y="5440679"/>
            <a:ext cx="640080" cy="713232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641847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0B2823"/>
                </a:solidFill>
                <a:latin typeface="IBM Plex Mono"/>
              </a:defRPr>
            </a:pPr>
            <a: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20" y="5504687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Anti-plagio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17320" y="5824727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Submeter a Turnitin/CopySpider. Score &lt; 15%.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09360" y="5440679"/>
            <a:ext cx="5486400" cy="713232"/>
          </a:xfrm>
          <a:prstGeom prst="roundRect">
            <a:avLst/>
          </a:prstGeom>
          <a:solidFill>
            <a:srgbClr val="2D453E"/>
          </a:solidFill>
          <a:ln w="6350">
            <a:solidFill>
              <a:srgbClr val="C5B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309360" y="5440679"/>
            <a:ext cx="640080" cy="713232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5641847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>
                <a:solidFill>
                  <a:srgbClr val="0B2823"/>
                </a:solidFill>
                <a:latin typeface="IBM Plex Mono"/>
              </a:defRPr>
            </a:pPr>
            <a: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86600" y="5504687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Backup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86600" y="5824727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Versao final salva em git e Drive antes de enviar.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888888"/>
                </a:solidFill>
                <a:latin typeface="Plus Jakarta Sans"/>
              </a:defRPr>
            </a:pPr>
            <a:r>
              <a:t>Manual de Uso  |  Agent Study Assistant  |  Verticalis AI Journey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584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888888"/>
                </a:solidFill>
                <a:latin typeface="IBM Plex Mono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C5B358"/>
                </a:solidFill>
                <a:latin typeface="Plus Jakarta Sans"/>
              </a:defRPr>
            </a:pPr>
            <a:r>
              <a:t>05  DECISION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1E1E1E"/>
                </a:solidFill>
                <a:latin typeface="Plus Jakarta Sans"/>
              </a:defRPr>
            </a:pPr>
            <a:r>
              <a:t>Em duvida? Use este fluxograma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Plus Jakarta Sans"/>
              </a:defRPr>
            </a:pPr>
            <a:r>
              <a:t>Pergunta inicial → resposta indica qual agente acionar agora.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3657600" cy="128016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3657600" cy="38100"/>
          </a:xfrm>
          <a:prstGeom prst="rect">
            <a:avLst/>
          </a:prstGeom>
          <a:solidFill>
            <a:srgbClr val="3A5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  <a:defRPr sz="1200" b="0">
                <a:solidFill>
                  <a:srgbClr val="1E1E1E"/>
                </a:solidFill>
                <a:latin typeface="Lora"/>
              </a:defRPr>
            </a:pPr>
            <a:r>
              <a:t>"Tenho duvida sobre o</a:t>
            </a:r>
            <a:br/>
            <a:r>
              <a:t>metodo da pesquisa?"</a:t>
            </a:r>
          </a:p>
        </p:txBody>
      </p:sp>
      <p:sp>
        <p:nvSpPr>
          <p:cNvPr id="9" name="Down Arrow 8"/>
          <p:cNvSpPr/>
          <p:nvPr/>
        </p:nvSpPr>
        <p:spPr>
          <a:xfrm>
            <a:off x="2331720" y="3108960"/>
            <a:ext cx="274320" cy="164592"/>
          </a:xfrm>
          <a:prstGeom prst="downArrow">
            <a:avLst/>
          </a:prstGeom>
          <a:solidFill>
            <a:srgbClr val="3A5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3A564E"/>
                </a:solidFill>
                <a:latin typeface="IBM Plex Mono"/>
              </a:defRPr>
            </a:pPr>
            <a:r>
              <a:t>methodology-advisor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2331720"/>
            <a:ext cx="3657600" cy="128016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2331720"/>
            <a:ext cx="3657600" cy="381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514600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  <a:defRPr sz="1200" b="0">
                <a:solidFill>
                  <a:srgbClr val="1E1E1E"/>
                </a:solidFill>
                <a:latin typeface="Lora"/>
              </a:defRPr>
            </a:pPr>
            <a:r>
              <a:t>"Preciso de fontes</a:t>
            </a:r>
            <a:br/>
            <a:r>
              <a:t>novas sobre {tema}?"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6172200" y="3108960"/>
            <a:ext cx="274320" cy="164592"/>
          </a:xfrm>
          <a:prstGeom prst="down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32918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C0392B"/>
                </a:solidFill>
                <a:latin typeface="IBM Plex Mono"/>
              </a:defRPr>
            </a:pPr>
            <a:r>
              <a:t>academic-researcher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2331720"/>
            <a:ext cx="3657600" cy="128016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2331720"/>
            <a:ext cx="3657600" cy="381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2514600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  <a:defRPr sz="1200" b="0">
                <a:solidFill>
                  <a:srgbClr val="1E1E1E"/>
                </a:solidFill>
                <a:latin typeface="Lora"/>
              </a:defRPr>
            </a:pPr>
            <a:r>
              <a:t>"Recebi texto de IA —</a:t>
            </a:r>
            <a:br/>
            <a:r>
              <a:t>posso confiar?"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10012680" y="3108960"/>
            <a:ext cx="274320" cy="164592"/>
          </a:xfrm>
          <a:prstGeom prst="down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32918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C0392B"/>
                </a:solidFill>
                <a:latin typeface="IBM Plex Mono"/>
              </a:defRPr>
            </a:pPr>
            <a:r>
              <a:t>source-validator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49039"/>
            <a:ext cx="3657600" cy="128016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49039"/>
            <a:ext cx="3657600" cy="381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31919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  <a:defRPr sz="1200" b="0">
                <a:solidFill>
                  <a:srgbClr val="1E1E1E"/>
                </a:solidFill>
                <a:latin typeface="Lora"/>
              </a:defRPr>
            </a:pPr>
            <a:r>
              <a:t>"Acabei de ler um</a:t>
            </a:r>
            <a:br/>
            <a:r>
              <a:t>artigo importante."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2331720" y="4526279"/>
            <a:ext cx="274320" cy="164592"/>
          </a:xfrm>
          <a:prstGeom prst="downArrow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70915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C5B358"/>
                </a:solidFill>
                <a:latin typeface="IBM Plex Mono"/>
              </a:defRPr>
            </a:pPr>
            <a:r>
              <a:t>knowledge-architect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60" y="3749039"/>
            <a:ext cx="3657600" cy="128016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80560" y="3749039"/>
            <a:ext cx="3657600" cy="38100"/>
          </a:xfrm>
          <a:prstGeom prst="rect">
            <a:avLst/>
          </a:prstGeom>
          <a:solidFill>
            <a:srgbClr val="0B2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3931919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  <a:defRPr sz="1200" b="0">
                <a:solidFill>
                  <a:srgbClr val="1E1E1E"/>
                </a:solidFill>
                <a:latin typeface="Lora"/>
              </a:defRPr>
            </a:pPr>
            <a:r>
              <a:t>"Tenho 8+ notas conec-</a:t>
            </a:r>
            <a:br/>
            <a:r>
              <a:t>tadas, posso escrever?"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6172200" y="4526279"/>
            <a:ext cx="274320" cy="164592"/>
          </a:xfrm>
          <a:prstGeom prst="downArrow">
            <a:avLst/>
          </a:prstGeom>
          <a:solidFill>
            <a:srgbClr val="0B2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0" y="470915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0B2823"/>
                </a:solidFill>
                <a:latin typeface="IBM Plex Mono"/>
              </a:defRPr>
            </a:pPr>
            <a:r>
              <a:t>academic-writer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3749039"/>
            <a:ext cx="3657600" cy="128016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21040" y="3749039"/>
            <a:ext cx="3657600" cy="381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3931919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  <a:defRPr sz="1200" b="0">
                <a:solidFill>
                  <a:srgbClr val="1E1E1E"/>
                </a:solidFill>
                <a:latin typeface="Lora"/>
              </a:defRPr>
            </a:pPr>
            <a:r>
              <a:t>"Como cito esta obra</a:t>
            </a:r>
            <a:br/>
            <a:r>
              <a:t>em ABNT?"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10012680" y="4526279"/>
            <a:ext cx="274320" cy="164592"/>
          </a:xfrm>
          <a:prstGeom prst="downArrow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3920" y="470915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4A4A4A"/>
                </a:solidFill>
                <a:latin typeface="IBM Plex Mono"/>
              </a:defRPr>
            </a:pPr>
            <a:r>
              <a:t>citation-manager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166360"/>
            <a:ext cx="3657600" cy="128016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3657600" cy="381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5349240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  <a:defRPr sz="1200" b="0">
                <a:solidFill>
                  <a:srgbClr val="1E1E1E"/>
                </a:solidFill>
                <a:latin typeface="Lora"/>
              </a:defRPr>
            </a:pPr>
            <a:r>
              <a:t>"Texto pronto. Onde</a:t>
            </a:r>
            <a:br/>
            <a:r>
              <a:t>estao as marcas de IA?"</a:t>
            </a:r>
          </a:p>
        </p:txBody>
      </p:sp>
      <p:sp>
        <p:nvSpPr>
          <p:cNvPr id="39" name="Down Arrow 38"/>
          <p:cNvSpPr/>
          <p:nvPr/>
        </p:nvSpPr>
        <p:spPr>
          <a:xfrm>
            <a:off x="2331720" y="5943600"/>
            <a:ext cx="274320" cy="164592"/>
          </a:xfrm>
          <a:prstGeom prst="down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61264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C0392B"/>
                </a:solidFill>
                <a:latin typeface="IBM Plex Mono"/>
              </a:defRPr>
            </a:pPr>
            <a:r>
              <a:t>ai-pattern-auditor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80560" y="5166360"/>
            <a:ext cx="3657600" cy="128016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80560" y="5166360"/>
            <a:ext cx="3657600" cy="381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0" y="5349240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  <a:defRPr sz="1200" b="0">
                <a:solidFill>
                  <a:srgbClr val="1E1E1E"/>
                </a:solidFill>
                <a:latin typeface="Lora"/>
              </a:defRPr>
            </a:pPr>
            <a:r>
              <a:t>"Quero reescrever</a:t>
            </a:r>
            <a:br/>
            <a:r>
              <a:t>na minha voz."</a:t>
            </a:r>
          </a:p>
        </p:txBody>
      </p:sp>
      <p:sp>
        <p:nvSpPr>
          <p:cNvPr id="44" name="Down Arrow 43"/>
          <p:cNvSpPr/>
          <p:nvPr/>
        </p:nvSpPr>
        <p:spPr>
          <a:xfrm>
            <a:off x="6172200" y="5943600"/>
            <a:ext cx="274320" cy="164592"/>
          </a:xfrm>
          <a:prstGeom prst="downArrow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63440" y="61264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C5B358"/>
                </a:solidFill>
                <a:latin typeface="IBM Plex Mono"/>
              </a:defRPr>
            </a:pPr>
            <a:r>
              <a:t>voice-humanizer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321040" y="5166360"/>
            <a:ext cx="3657600" cy="1280160"/>
          </a:xfrm>
          <a:prstGeom prst="roundRect">
            <a:avLst/>
          </a:prstGeom>
          <a:solidFill>
            <a:srgbClr val="F4F1EA"/>
          </a:solidFill>
          <a:ln w="12700">
            <a:solidFill>
              <a:srgbClr val="E0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321040" y="5166360"/>
            <a:ext cx="3657600" cy="38100"/>
          </a:xfrm>
          <a:prstGeom prst="rect">
            <a:avLst/>
          </a:prstGeom>
          <a:solidFill>
            <a:srgbClr val="2D6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03920" y="5349240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  <a:defRPr sz="1200" b="0">
                <a:solidFill>
                  <a:srgbClr val="1E1E1E"/>
                </a:solidFill>
                <a:latin typeface="Lora"/>
              </a:defRPr>
            </a:pPr>
            <a:r>
              <a:t>"Vou submeter — qual</a:t>
            </a:r>
            <a:br/>
            <a:r>
              <a:t>a critica mais dura?"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10012680" y="5943600"/>
            <a:ext cx="274320" cy="164592"/>
          </a:xfrm>
          <a:prstGeom prst="downArrow">
            <a:avLst/>
          </a:prstGeom>
          <a:solidFill>
            <a:srgbClr val="2D6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03920" y="61264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>
                <a:solidFill>
                  <a:srgbClr val="2D6E43"/>
                </a:solidFill>
                <a:latin typeface="IBM Plex Mono"/>
              </a:defRPr>
            </a:pPr>
            <a:r>
              <a:t>peer-reviewer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Plus Jakarta Sans"/>
              </a:defRPr>
            </a:pPr>
            <a:r>
              <a:t>Manual de Uso  |  Agent Study Assistant  |  Verticalis AI Journey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IBM Plex Mono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486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1">
                <a:solidFill>
                  <a:srgbClr val="D4C878"/>
                </a:solidFill>
                <a:latin typeface="IBM Plex Mono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601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Plus Jakarta Sans"/>
              </a:defRPr>
            </a:pPr>
            <a:r>
              <a:t>Cheat sheet — todos os 9 agentes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600200"/>
            <a:ext cx="1097280" cy="3810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Plus Jakarta Sans"/>
              </a:defRPr>
            </a:pPr>
            <a:r>
              <a:t>Imprimir e deixar perto do computador.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11430000" cy="365760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957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0B2823"/>
                </a:solidFill>
                <a:latin typeface="Plus Jakarta Sans"/>
              </a:defRPr>
            </a:pPr>
            <a:r>
              <a:t>AGENTE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3957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0B2823"/>
                </a:solidFill>
                <a:latin typeface="Plus Jakarta Sans"/>
              </a:defRPr>
            </a:pPr>
            <a:r>
              <a:t>QUANDO ACIONAR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395728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0B2823"/>
                </a:solidFill>
                <a:latin typeface="Plus Jakarta Sans"/>
              </a:defRPr>
            </a:pPr>
            <a:r>
              <a:t>PROMPT-CHAVE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43200"/>
            <a:ext cx="11430000" cy="384048"/>
          </a:xfrm>
          <a:prstGeom prst="rect">
            <a:avLst/>
          </a:prstGeom>
          <a:solidFill>
            <a:srgbClr val="2D4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346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D4C878"/>
                </a:solidFill>
                <a:latin typeface="IBM Plex Mono"/>
              </a:defRPr>
            </a:pPr>
            <a:r>
              <a:t>methodology-advisor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8346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Inicio + qualif.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83464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IBM Plex Mono"/>
              </a:defRPr>
            </a:pPr>
            <a:r>
              <a:t>metodologia para {pergunta}, 3 alternativas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1868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D4C878"/>
                </a:solidFill>
                <a:latin typeface="IBM Plex Mono"/>
              </a:defRPr>
            </a:pPr>
            <a:r>
              <a:t>academic-researcher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21868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Fontes novas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218688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IBM Plex Mono"/>
              </a:defRPr>
            </a:pPr>
            <a:r>
              <a:t>buscar {tema} em SciELO/Scholar 2020-2026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511296"/>
            <a:ext cx="11430000" cy="384048"/>
          </a:xfrm>
          <a:prstGeom prst="rect">
            <a:avLst/>
          </a:prstGeom>
          <a:solidFill>
            <a:srgbClr val="2D4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60273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D4C878"/>
                </a:solidFill>
                <a:latin typeface="IBM Plex Mono"/>
              </a:defRPr>
            </a:pPr>
            <a:r>
              <a:t>source-validator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60273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Pos qualquer 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602736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IBM Plex Mono"/>
              </a:defRPr>
            </a:pPr>
            <a:r>
              <a:t>audite as citacoes deste arquivo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8678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D4C878"/>
                </a:solidFill>
                <a:latin typeface="IBM Plex Mono"/>
              </a:defRPr>
            </a:pPr>
            <a:r>
              <a:t>knowledge-architect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98678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Pos cada leitura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3986784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IBM Plex Mono"/>
              </a:defRPr>
            </a:pPr>
            <a:r>
              <a:t>fichar {autor (ano)} e gerar notas atomicas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279392"/>
            <a:ext cx="11430000" cy="384048"/>
          </a:xfrm>
          <a:prstGeom prst="rect">
            <a:avLst/>
          </a:prstGeom>
          <a:solidFill>
            <a:srgbClr val="2D4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3708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D4C878"/>
                </a:solidFill>
                <a:latin typeface="IBM Plex Mono"/>
              </a:defRPr>
            </a:pPr>
            <a:r>
              <a:t>academic-writer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Sprint redacao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4370832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IBM Plex Mono"/>
              </a:defRPr>
            </a:pPr>
            <a:r>
              <a:t>redija secao X a partir destas notas: [[...]]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D4C878"/>
                </a:solidFill>
                <a:latin typeface="IBM Plex Mono"/>
              </a:defRPr>
            </a:pPr>
            <a:r>
              <a:t>citation-manager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Toda nova fonte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475488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IBM Plex Mono"/>
              </a:defRPr>
            </a:pPr>
            <a:r>
              <a:t>adicione {DOI} ao biblio.bib em ABNT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047488"/>
            <a:ext cx="11430000" cy="384048"/>
          </a:xfrm>
          <a:prstGeom prst="rect">
            <a:avLst/>
          </a:prstGeom>
          <a:solidFill>
            <a:srgbClr val="2D4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1389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D4C878"/>
                </a:solidFill>
                <a:latin typeface="IBM Plex Mono"/>
              </a:defRPr>
            </a:pPr>
            <a:r>
              <a:t>ai-pattern-auditor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51389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Antes do humanizer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138928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IBM Plex Mono"/>
              </a:defRPr>
            </a:pPr>
            <a:r>
              <a:t>mapa de calor de marcas de IA no draft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52297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D4C878"/>
                </a:solidFill>
                <a:latin typeface="IBM Plex Mono"/>
              </a:defRPr>
            </a:pPr>
            <a:r>
              <a:t>voice-humanizer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552297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1a sessao + pre-sub.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5522976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IBM Plex Mono"/>
              </a:defRPr>
            </a:pPr>
            <a:r>
              <a:t>aplicar questionario / humanizar 🔴 do auditor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5815583"/>
            <a:ext cx="11430000" cy="384048"/>
          </a:xfrm>
          <a:prstGeom prst="rect">
            <a:avLst/>
          </a:prstGeom>
          <a:solidFill>
            <a:srgbClr val="2D4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907023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>
                <a:solidFill>
                  <a:srgbClr val="D4C878"/>
                </a:solidFill>
                <a:latin typeface="IBM Plex Mono"/>
              </a:defRPr>
            </a:pPr>
            <a:r>
              <a:t>peer-reviewer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5907023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Plus Jakarta Sans"/>
              </a:defRPr>
            </a:pPr>
            <a:r>
              <a:t>Antes da banca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907023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IBM Plex Mono"/>
              </a:defRPr>
            </a:pPr>
            <a:r>
              <a:t>simule banca, 10 piores perguntas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 b="0">
                <a:solidFill>
                  <a:srgbClr val="888888"/>
                </a:solidFill>
                <a:latin typeface="Plus Jakarta Sans"/>
              </a:defRPr>
            </a:pPr>
            <a:r>
              <a:t>Manual de Uso  |  Agent Study Assistant  |  Verticalis AI Journey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888888"/>
                </a:solidFill>
                <a:latin typeface="IBM Plex Mono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36576"/>
          </a:xfrm>
          <a:prstGeom prst="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D4C878"/>
                </a:solidFill>
                <a:latin typeface="Plus Jakarta Sans"/>
              </a:defRPr>
            </a:pPr>
            <a:r>
              <a:t>PROXIMOS 3 PASSOS HOJE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Lora"/>
              </a:defRPr>
            </a:pPr>
            <a:r>
              <a:t>Comece pelo fundamento.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659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0">
                <a:solidFill>
                  <a:srgbClr val="D4C878"/>
                </a:solidFill>
                <a:latin typeface="Lora"/>
              </a:defRPr>
            </a:pPr>
            <a:r>
              <a:t>Tres acoes em ordem para destravar todo o resto.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743200"/>
            <a:ext cx="640080" cy="640080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9077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0B2823"/>
                </a:solidFill>
                <a:latin typeface="IBM Plex Mono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834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Plus Jakarta Sans"/>
              </a:defRPr>
            </a:pPr>
            <a:r>
              <a:t>Aplique o questionario do voice-humanizer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31546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CCCCCC"/>
                </a:solidFill>
                <a:latin typeface="Plus Jakarta Sans"/>
              </a:defRPr>
            </a:pPr>
            <a:r>
              <a:t>30 minutos. Sem isso, todo polimento opera no escuro.</a:t>
            </a:r>
            <a:br/>
            <a:r>
              <a:t>Cole no Claude Code: 'Acione voice-humanizer para aplicar o questionario inicial'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657600"/>
            <a:ext cx="640080" cy="640080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8221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0B2823"/>
                </a:solidFill>
                <a:latin typeface="IBM Plex Mono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749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Plus Jakarta Sans"/>
              </a:defRPr>
            </a:pPr>
            <a:r>
              <a:t>Defina sua pergunta de pesquisa em memory/project_thesis.md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40690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CCCCCC"/>
                </a:solidFill>
                <a:latin typeface="Plus Jakarta Sans"/>
              </a:defRPr>
            </a:pPr>
            <a:r>
              <a:t>Uma frase clara. Se ainda nao tem, acione methodology-advisor para te ajudar a formular.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4572000"/>
            <a:ext cx="640080" cy="640080"/>
          </a:xfrm>
          <a:prstGeom prst="roundRect">
            <a:avLst/>
          </a:prstGeom>
          <a:solidFill>
            <a:srgbClr val="C5B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7365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0B2823"/>
                </a:solidFill>
                <a:latin typeface="IBM Plex Mono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663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Plus Jakarta Sans"/>
              </a:defRPr>
            </a:pPr>
            <a:r>
              <a:t>Capture suas primeiras 5 fontes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9834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defRPr sz="1100" b="0">
                <a:solidFill>
                  <a:srgbClr val="CCCCCC"/>
                </a:solidFill>
                <a:latin typeface="Plus Jakarta Sans"/>
              </a:defRPr>
            </a:pPr>
            <a:r>
              <a:t>academic-researcher busca, source-validator audita, knowledge-architect ficha.</a:t>
            </a:r>
            <a:br/>
            <a:r>
              <a:t>Teste o ciclo end-to-end com fontes reais do seu tema.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263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D4C878"/>
                </a:solidFill>
                <a:latin typeface="IBM Plex Mono"/>
              </a:defRPr>
            </a:pPr>
            <a:r>
              <a:t>Manual completo: github.com/byfabioviana/agent-study-assistant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65379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900" b="0">
                <a:solidFill>
                  <a:srgbClr val="888888"/>
                </a:solidFill>
                <a:latin typeface="IBM Plex Mono"/>
              </a:defRPr>
            </a:pPr>
            <a:r>
              <a:t>Verticalis AI Journey  •  Education  •  Maio 2026  •  v1.0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