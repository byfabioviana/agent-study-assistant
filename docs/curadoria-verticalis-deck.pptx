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4114800"/>
            <a:ext cx="4389120" cy="2743200"/>
          </a:xfrm>
          <a:prstGeom prst="rect">
            <a:avLst/>
          </a:prstGeom>
          <a:solidFill>
            <a:srgbClr val="2D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Plus Jakarta Sans"/>
              </a:defRPr>
            </a:pPr>
            <a:r>
              <a:t>VERTICALIS AI JOURNEY  /  EDUCATION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0"/>
              </a:lnSpc>
              <a:defRPr sz="5200" b="1">
                <a:solidFill>
                  <a:srgbClr val="FFFFFF"/>
                </a:solidFill>
                <a:latin typeface="Lora"/>
              </a:defRPr>
            </a:pPr>
            <a:r>
              <a:t>Sistema de Curadoria</a:t>
            </a:r>
            <a:br/>
            <a:r>
              <a:t>Academica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Plus Jakarta Sans"/>
              </a:defRPr>
            </a:pPr>
            <a:r>
              <a:t>PARA + Zettelkasten + CODE  |  Google Drive  |  Squad de 9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D4C878"/>
                </a:solidFill>
                <a:latin typeface="Lora"/>
              </a:defRPr>
            </a:pPr>
            <a:r>
              <a:t>Pesquisa rapida, contexto persistente, autoria autentica.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IBM Plex Mono"/>
              </a:defRPr>
            </a:pPr>
            <a:r>
              <a:t>Maio 2026  •  Confidencial  •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1E1E1E"/>
                </a:solidFill>
                <a:latin typeface="Plus Jakarta Sans"/>
              </a:defRPr>
            </a:pPr>
            <a:r>
              <a:t>Conteudo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Diagnostico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828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As 3 friccoes que estamos resolvendo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128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128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PARA + Zettelkasten + CODE —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9689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• 02.1 PARA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9689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Organizacao por acionabilidade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8094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• 02.2 Zettelkasten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9809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Notas atomicas linkadas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6499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Plus Jakarta Sans"/>
              </a:defRPr>
            </a:pPr>
            <a:r>
              <a:t>  • 02.3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36499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lus Jakarta Sans"/>
              </a:defRPr>
            </a:pPr>
            <a:r>
              <a:t>Workflow de processamento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3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Plataforma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74903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Google Drive como infraestrutura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33087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33087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Estrutura de pastas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133087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Arvore PARA numerada 00-99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1713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5171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Nomenclatura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5171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Convencao YYYYMMDD-tipo-slug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01183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901183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Workflow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901183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Capture &gt; Organize &gt; Distill &gt; Express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8523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8523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Squad de 9 agentes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28523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Como cada um atua no Drive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669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6692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Voice + Auditor de 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669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Calibracao e diagnostico forense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0533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605332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Pesquisa rapida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0533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5 estrategias de busca no vault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64373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643737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Interface Obsidian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64373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Tier 1 — UI moderna sobre o Drive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68214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82142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Plus Jakarta Sans"/>
              </a:defRPr>
            </a:pPr>
            <a:r>
              <a:t>Adocao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68214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Cronograma 4 semanas e proximos passos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00"/>
              </a:lnSpc>
              <a:defRPr sz="3600" b="1">
                <a:solidFill>
                  <a:srgbClr val="FFFFFF"/>
                </a:solidFill>
                <a:latin typeface="Lora"/>
              </a:defRPr>
            </a:pPr>
            <a:r>
              <a:t>"O conhecimento que voce nao consegue</a:t>
            </a:r>
            <a:br/>
            <a:r>
              <a:t>recuperar, voce nao tem."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46888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0"/>
              </a:lnSpc>
              <a:defRPr sz="1400" b="0">
                <a:solidFill>
                  <a:srgbClr val="CCCCCC"/>
                </a:solidFill>
                <a:latin typeface="Plus Jakarta Sans"/>
              </a:defRPr>
            </a:pPr>
            <a:r>
              <a:t>Sobram fontes. Sobram conversas com IA.</a:t>
            </a:r>
            <a:br/>
            <a:r>
              <a:t>Sobram PDFs baixados que nunca sao lidos.</a:t>
            </a:r>
            <a:br/>
            <a:r>
              <a:t>O que falta e o sistema que cura, valida</a:t>
            </a:r>
            <a:br/>
            <a:r>
              <a:t>e devolve esse material quando voce precisa.</a:t>
            </a:r>
            <a:br/>
            <a:br/>
            <a:r>
              <a:t>O mestrando trata curadoria como "depois eu organizo".</a:t>
            </a:r>
            <a:br/>
            <a:r>
              <a:t>Tratamos como infraestrutura.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0"/>
              </a:lnSpc>
              <a:defRPr sz="1400" b="0">
                <a:solidFill>
                  <a:srgbClr val="CCCCCC"/>
                </a:solidFill>
                <a:latin typeface="Plus Jakarta Sans"/>
              </a:defRPr>
            </a:pPr>
            <a:r>
              <a:t>Nao prometemos produtividade. Prometemos rigor.</a:t>
            </a:r>
            <a:br/>
            <a:r>
              <a:t>Nao prometemos atalho. Prometemos metodo.</a:t>
            </a:r>
            <a:br/>
            <a:r>
              <a:t>Nao prometemos enganar detector de IA.</a:t>
            </a:r>
            <a:br/>
            <a:r>
              <a:t>Prometemos texto que reflete sua voz — porque</a:t>
            </a:r>
            <a:br/>
            <a:r>
              <a:t>voce intervem em cada paragrafo, e existe um</a:t>
            </a:r>
            <a:br/>
            <a:r>
              <a:t>agente especialista em cada etapa do processo.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D4C878"/>
                </a:solidFill>
                <a:latin typeface="Lora"/>
              </a:defRPr>
            </a:pPr>
            <a:r>
              <a:t>Inteligencia que se constroi — aplicada a sua jornada de mestrado.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01  DIAGNOSTICO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Plus Jakarta Sans"/>
              </a:defRPr>
            </a:pPr>
            <a:r>
              <a:t>Tres friccoes que travam a jornada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lus Jakarta Sans"/>
              </a:defRPr>
            </a:pPr>
            <a:r>
              <a:t>Identificadas em sessoes reais com mestrandos usando IA como copilot de pesquisa.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3383280" cy="3931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Plus Jakarta Sans"/>
              </a:defRPr>
            </a:pPr>
            <a:r>
              <a:t>Curadoria pulverizada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SINTOMA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Resultados misturam fontes confiaveis,</a:t>
            </a:r>
            <a:br/>
            <a:r>
              <a:t>blogs e alucinacoes.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CAUSA RAIZ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Falta gatekeeper que valide cada</a:t>
            </a:r>
            <a:br/>
            <a:r>
              <a:t>afirmacao contra fonte primaria.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286000"/>
            <a:ext cx="3383280" cy="3931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56032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Plus Jakarta Sans"/>
              </a:defRPr>
            </a:pPr>
            <a:r>
              <a:t>Conhecimento volatil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SINTOMA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Insights ficam em conversas dispersas,</a:t>
            </a:r>
            <a:br/>
            <a:r>
              <a:t>sem estrutura cumulativa.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029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CAUSA RAIZ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035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Falta camada Zettelkasten / segundo</a:t>
            </a:r>
            <a:br/>
            <a:r>
              <a:t>cerebro persistente.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286000"/>
            <a:ext cx="3383280" cy="39319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256032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Plus Jakarta Sans"/>
              </a:defRPr>
            </a:pPr>
            <a:r>
              <a:t>Texto soa de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490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SINTOMA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0233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Detectores acusam padrao estatistico.</a:t>
            </a:r>
            <a:br/>
            <a:r>
              <a:t>Baixa burstiness, vocabulario previsivel.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029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Plus Jakarta Sans"/>
              </a:defRPr>
            </a:pPr>
            <a:r>
              <a:t>CAUSA RAIZ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3035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Texto gerado em uma unica passada</a:t>
            </a:r>
            <a:br/>
            <a:r>
              <a:t>sem reescrita autoral ancorada na voz.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Tres frameworks combinados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Plus Jakarta Sans"/>
              </a:defRPr>
            </a:pPr>
            <a:r>
              <a:t>Cada framework cobre uma camada do problema. Juntos formam a infraestrutura.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3383280" cy="356616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88036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C5B358"/>
                </a:solidFill>
                <a:latin typeface="Plus Jakarta Sans"/>
              </a:defRPr>
            </a:pPr>
            <a:r>
              <a:t>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BM Plex Mono"/>
              </a:defRPr>
            </a:pPr>
            <a:r>
              <a:t>Tiago Forte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00"/>
              </a:lnSpc>
              <a:defRPr sz="1400" b="0">
                <a:solidFill>
                  <a:srgbClr val="FFFFFF"/>
                </a:solidFill>
                <a:latin typeface="Lora"/>
              </a:defRPr>
            </a:pPr>
            <a:r>
              <a:t>Organizacao por nivel</a:t>
            </a:r>
            <a:br/>
            <a:r>
              <a:t>de acionabilidade</a:t>
            </a:r>
          </a:p>
        </p:txBody>
      </p:sp>
      <p:sp>
        <p:nvSpPr>
          <p:cNvPr id="11" name="Oval 10"/>
          <p:cNvSpPr/>
          <p:nvPr/>
        </p:nvSpPr>
        <p:spPr>
          <a:xfrm>
            <a:off x="1417320" y="4690872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Projects: tem prazo</a:t>
            </a:r>
          </a:p>
        </p:txBody>
      </p:sp>
      <p:sp>
        <p:nvSpPr>
          <p:cNvPr id="13" name="Oval 12"/>
          <p:cNvSpPr/>
          <p:nvPr/>
        </p:nvSpPr>
        <p:spPr>
          <a:xfrm>
            <a:off x="1417320" y="5020056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946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Areas: continuas</a:t>
            </a:r>
          </a:p>
        </p:txBody>
      </p:sp>
      <p:sp>
        <p:nvSpPr>
          <p:cNvPr id="15" name="Oval 14"/>
          <p:cNvSpPr/>
          <p:nvPr/>
        </p:nvSpPr>
        <p:spPr>
          <a:xfrm>
            <a:off x="1417320" y="5349240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5276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Resources: tematicos</a:t>
            </a:r>
          </a:p>
        </p:txBody>
      </p:sp>
      <p:sp>
        <p:nvSpPr>
          <p:cNvPr id="17" name="Oval 16"/>
          <p:cNvSpPr/>
          <p:nvPr/>
        </p:nvSpPr>
        <p:spPr>
          <a:xfrm>
            <a:off x="1417320" y="5678424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56052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Archive: concluido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651760"/>
            <a:ext cx="3383280" cy="356616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288036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C5B358"/>
                </a:solidFill>
                <a:latin typeface="Plus Jakarta Sans"/>
              </a:defRPr>
            </a:pPr>
            <a:r>
              <a:t>ZETTELKASTEN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BM Plex Mono"/>
              </a:defRPr>
            </a:pPr>
            <a:r>
              <a:t>Niklas Luhmann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00"/>
              </a:lnSpc>
              <a:defRPr sz="1400" b="0">
                <a:solidFill>
                  <a:srgbClr val="FFFFFF"/>
                </a:solidFill>
                <a:latin typeface="Lora"/>
              </a:defRPr>
            </a:pPr>
            <a:r>
              <a:t>Notas atomicas</a:t>
            </a:r>
            <a:br/>
            <a:r>
              <a:t>linkadas</a:t>
            </a:r>
          </a:p>
        </p:txBody>
      </p:sp>
      <p:sp>
        <p:nvSpPr>
          <p:cNvPr id="24" name="Oval 23"/>
          <p:cNvSpPr/>
          <p:nvPr/>
        </p:nvSpPr>
        <p:spPr>
          <a:xfrm>
            <a:off x="5074920" y="4690872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Uma ideia por nota</a:t>
            </a:r>
          </a:p>
        </p:txBody>
      </p:sp>
      <p:sp>
        <p:nvSpPr>
          <p:cNvPr id="26" name="Oval 25"/>
          <p:cNvSpPr/>
          <p:nvPr/>
        </p:nvSpPr>
        <p:spPr>
          <a:xfrm>
            <a:off x="5074920" y="5020056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4946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Voz do aluno</a:t>
            </a:r>
          </a:p>
        </p:txBody>
      </p:sp>
      <p:sp>
        <p:nvSpPr>
          <p:cNvPr id="28" name="Oval 27"/>
          <p:cNvSpPr/>
          <p:nvPr/>
        </p:nvSpPr>
        <p:spPr>
          <a:xfrm>
            <a:off x="5074920" y="5349240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5276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Links bidirecionais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5678424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56052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Crescimento organico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2651760"/>
            <a:ext cx="3383280" cy="356616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288036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C5B358"/>
                </a:solidFill>
                <a:latin typeface="Plus Jakarta Sans"/>
              </a:defRPr>
            </a:pPr>
            <a:r>
              <a:t>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IBM Plex Mono"/>
              </a:defRPr>
            </a:pPr>
            <a:r>
              <a:t>Tiago Forte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886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00"/>
              </a:lnSpc>
              <a:defRPr sz="1400" b="0">
                <a:solidFill>
                  <a:srgbClr val="FFFFFF"/>
                </a:solidFill>
                <a:latin typeface="Lora"/>
              </a:defRPr>
            </a:pPr>
            <a:r>
              <a:t>Workflow de</a:t>
            </a:r>
            <a:br/>
            <a:r>
              <a:t>processamento</a:t>
            </a:r>
          </a:p>
        </p:txBody>
      </p:sp>
      <p:sp>
        <p:nvSpPr>
          <p:cNvPr id="37" name="Oval 36"/>
          <p:cNvSpPr/>
          <p:nvPr/>
        </p:nvSpPr>
        <p:spPr>
          <a:xfrm>
            <a:off x="8732520" y="4690872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Capture (inbox)</a:t>
            </a:r>
          </a:p>
        </p:txBody>
      </p:sp>
      <p:sp>
        <p:nvSpPr>
          <p:cNvPr id="39" name="Oval 38"/>
          <p:cNvSpPr/>
          <p:nvPr/>
        </p:nvSpPr>
        <p:spPr>
          <a:xfrm>
            <a:off x="8732520" y="5020056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4946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Organize (PARA)</a:t>
            </a:r>
          </a:p>
        </p:txBody>
      </p:sp>
      <p:sp>
        <p:nvSpPr>
          <p:cNvPr id="41" name="Oval 40"/>
          <p:cNvSpPr/>
          <p:nvPr/>
        </p:nvSpPr>
        <p:spPr>
          <a:xfrm>
            <a:off x="8732520" y="5349240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5400" y="5276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Distill (Zettel)</a:t>
            </a:r>
          </a:p>
        </p:txBody>
      </p:sp>
      <p:sp>
        <p:nvSpPr>
          <p:cNvPr id="43" name="Oval 42"/>
          <p:cNvSpPr/>
          <p:nvPr/>
        </p:nvSpPr>
        <p:spPr>
          <a:xfrm>
            <a:off x="8732520" y="5678424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56052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lus Jakarta Sans"/>
              </a:defRPr>
            </a:pPr>
            <a:r>
              <a:t>Express (drafts)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02.1  FRAMEWORK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E1E1E"/>
                </a:solidFill>
                <a:latin typeface="Plus Jakarta Sans"/>
              </a:defRPr>
            </a:pPr>
            <a:r>
              <a:t>PARA — Organizacao por acionabilidade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Tiago Forte  •  Building a Second Brain (2017)  •  Sistema universal de gestao de informacao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48840"/>
            <a:ext cx="10515600" cy="77724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Plus Jakarta Sans"/>
              </a:defRPr>
            </a:pPr>
            <a:r>
              <a:t>PRINCIPIO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420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Lora"/>
              </a:defRPr>
            </a:pPr>
            <a:r>
              <a:t>Organize informacao por acionabilidade — quao proximo esta da execucao — nao por origem ou tipo.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108960"/>
            <a:ext cx="256032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3246120"/>
            <a:ext cx="4114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IBM Plex Mono"/>
              </a:defRPr>
            </a:pPr>
            <a:r>
              <a:t>Tem prazo, fim claro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Capitulo 2 da dissertacao</a:t>
            </a:r>
            <a:br/>
            <a:r>
              <a:t>Artigo para periodico</a:t>
            </a:r>
            <a:br/>
            <a:r>
              <a:t>Preparacao da qualificacao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3108960"/>
            <a:ext cx="256032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77640" y="3246120"/>
            <a:ext cx="411480" cy="41148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AREAS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IBM Plex Mono"/>
              </a:defRPr>
            </a:pPr>
            <a:r>
              <a:t>Continuas, sem fim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93192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Sua linha de pesquisa</a:t>
            </a:r>
            <a:br/>
            <a:r>
              <a:t>Relacao com orientador</a:t>
            </a:r>
            <a:br/>
            <a:r>
              <a:t>Disciplinas em curso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108960"/>
            <a:ext cx="256032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0" y="3246120"/>
            <a:ext cx="411480" cy="411480"/>
          </a:xfrm>
          <a:prstGeom prst="round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A564E"/>
                </a:solidFill>
                <a:latin typeface="IBM Plex Mono"/>
              </a:defRPr>
            </a:pPr>
            <a:r>
              <a:t>Tematicos, consultaveis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93192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Bibliografia do campo</a:t>
            </a:r>
            <a:br/>
            <a:r>
              <a:t>Templates de fichamento</a:t>
            </a:r>
            <a:br/>
            <a:r>
              <a:t>Glossario de conceitos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3108960"/>
            <a:ext cx="256032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72600" y="3246120"/>
            <a:ext cx="411480" cy="4114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ARCHIVE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IBM Plex Mono"/>
              </a:defRPr>
            </a:pPr>
            <a:r>
              <a:t>Inativos ou concluidos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93192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Trabalhos de TCC</a:t>
            </a:r>
            <a:br/>
            <a:r>
              <a:t>Disciplinas finalizadas</a:t>
            </a:r>
            <a:br/>
            <a:r>
              <a:t>Ideias engavetadas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669280"/>
            <a:ext cx="3383280" cy="64008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QUANDO FUNCIONA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Multiplos projetos paralelos com prazos.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5669280"/>
            <a:ext cx="3383280" cy="64008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QUANDO E LIMITADO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Nao captura conexao entre ideias — so onde ficam.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5669280"/>
            <a:ext cx="3383280" cy="64008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PARA O MESTRANDO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Camada macro — onde as coisas vivem no Drive.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lus Jakarta Sans"/>
              </a:defRPr>
            </a:pPr>
            <a:r>
              <a:t>Zettelkasten — Notas atomicas linkadas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lus Jakarta Sans"/>
              </a:defRPr>
            </a:pPr>
            <a:r>
              <a:t>Niklas Luhmann  •  sociologo alemao (1927-1998)  •  ~90.000 fichas, 70+ livros e 400+ artigos em 30 anos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10515600" cy="77724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PRINCIPIO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Lora"/>
              </a:defRPr>
            </a:pPr>
            <a:r>
              <a:t>Conhecimento gera valor pela conexao entre ideias atomicas — nao pelo acumulo.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OS 5 PRINCIPIOS DE LUHMANN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57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Atomicidade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Uma ideia por nota. Se tem dois argumentos independentes, divida.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Autonomia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1788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 nota deve ser inteligivel sem precisar abrir a fonte original.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63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Conectividade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6817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Toda nota tem ao menos um link bidirecional para outra.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66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Voz propria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846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Reescrita autoral — parafrasear e processar, nao copiar.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69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Crescimento organico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6875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Sem hierarquia rigida — a estrutura emerge das conexoes.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383280"/>
            <a:ext cx="5029200" cy="210312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520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TIPOS DE NOTA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840480"/>
            <a:ext cx="164592" cy="36576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Literatura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114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Fichamento por fonte (citekey).md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343400"/>
            <a:ext cx="164592" cy="36576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Permanente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6177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Nucleo — uma ideia atomica autoral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846320"/>
            <a:ext cx="164592" cy="36576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846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MOC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1206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Map of Content — indice tematico curado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669280"/>
            <a:ext cx="3383280" cy="64008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QUANDO FUNCIONA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Para gerar pensamento original em pesquisa.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5669280"/>
            <a:ext cx="3383280" cy="64008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QUANDO E LIMITADO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Curva de aprendizado alta. Exige disciplina diaria.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5669280"/>
            <a:ext cx="3383280" cy="64008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B2823"/>
                </a:solidFill>
                <a:latin typeface="Plus Jakarta Sans"/>
              </a:defRPr>
            </a:pPr>
            <a:r>
              <a:t>PARA O MESTRANDO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0B2823"/>
                </a:solidFill>
                <a:latin typeface="Plus Jakarta Sans"/>
              </a:defRPr>
            </a:pPr>
            <a:r>
              <a:t>Nucleo da dissertacao — onde a tese se forma.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02.3  FRAMEWORK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E1E1E"/>
                </a:solidFill>
                <a:latin typeface="Plus Jakarta Sans"/>
              </a:defRPr>
            </a:pPr>
            <a:r>
              <a:t>CODE — Workflow de processamento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Plus Jakarta Sans"/>
              </a:defRPr>
            </a:pPr>
            <a:r>
              <a:t>Tiago Forte  •  Building a Second Brain (2022)  •  Fluxo de informacao em 4 etapas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48840"/>
            <a:ext cx="10515600" cy="77724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D4C878"/>
                </a:solidFill>
                <a:latin typeface="Plus Jakarta Sans"/>
              </a:defRPr>
            </a:pPr>
            <a:r>
              <a:t>PRINCIPIO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420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Lora"/>
              </a:defRPr>
            </a:pPr>
            <a:r>
              <a:t>Informacao so vale se vira output. Cada etapa transforma input bruto em produto autoral.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108960"/>
            <a:ext cx="256032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3246120"/>
            <a:ext cx="4114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IBM Plex Mono"/>
              </a:defRPr>
            </a:pPr>
            <a:r>
              <a:t>Salvar o que ressoa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Drive Inbox</a:t>
            </a:r>
            <a:br/>
            <a:r>
              <a:t>clip de Scholar</a:t>
            </a:r>
            <a:br/>
            <a:r>
              <a:t>audio dictado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892040"/>
            <a:ext cx="2194560" cy="9525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834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0392B"/>
                </a:solidFill>
                <a:latin typeface="Lora"/>
              </a:defRPr>
            </a:pPr>
            <a:r>
              <a:t>Volume baixo curado &gt; volume alto descartado.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57600" y="4114800"/>
            <a:ext cx="164592" cy="201168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9476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4760" y="3108960"/>
            <a:ext cx="256032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40" y="3246120"/>
            <a:ext cx="411480" cy="41148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ORGANIZE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5B358"/>
                </a:solidFill>
                <a:latin typeface="IBM Plex Mono"/>
              </a:defRPr>
            </a:pPr>
            <a:r>
              <a:t>Armazenar por acionabilidade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39319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PARA aplica aqui:</a:t>
            </a:r>
            <a:br/>
            <a:r>
              <a:t>Projects/Areas/</a:t>
            </a:r>
            <a:br/>
            <a:r>
              <a:t>Resources/Archive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4892040"/>
            <a:ext cx="2194560" cy="9525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49834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5B358"/>
                </a:solidFill>
                <a:latin typeface="Lora"/>
              </a:defRPr>
            </a:pPr>
            <a:r>
              <a:t>Pasta certa = recuperacao em segundos.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355080" y="4114800"/>
            <a:ext cx="164592" cy="201168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108960"/>
            <a:ext cx="256032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3246120"/>
            <a:ext cx="411480" cy="411480"/>
          </a:xfrm>
          <a:prstGeom prst="round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DISTILL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3A564E"/>
                </a:solidFill>
                <a:latin typeface="IBM Plex Mono"/>
              </a:defRPr>
            </a:pPr>
            <a:r>
              <a:t>Condensar ao essencial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9319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Notas progressivas</a:t>
            </a:r>
            <a:br/>
            <a:r>
              <a:t>grifos &gt; resumos</a:t>
            </a:r>
            <a:br/>
            <a:r>
              <a:t>ideias atomicas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4892040"/>
            <a:ext cx="2194560" cy="9525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9834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3A564E"/>
                </a:solidFill>
                <a:latin typeface="Lora"/>
              </a:defRPr>
            </a:pPr>
            <a:r>
              <a:t>Etapa mais negligenciada — onde mora o valor.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052560" y="4114800"/>
            <a:ext cx="164592" cy="201168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89720" y="3108960"/>
            <a:ext cx="2560320" cy="24231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3108960"/>
            <a:ext cx="2560320" cy="381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72600" y="3246120"/>
            <a:ext cx="411480" cy="411480"/>
          </a:xfrm>
          <a:prstGeom prst="round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E1E1E"/>
                </a:solidFill>
                <a:latin typeface="Plus Jakarta Sans"/>
              </a:defRPr>
            </a:pPr>
            <a:r>
              <a:t>EXPRESS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5204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IBM Plex Mono"/>
              </a:defRPr>
            </a:pPr>
            <a:r>
              <a:t>Transformar em produto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393192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Drafts da dissertacao</a:t>
            </a:r>
            <a:br/>
            <a:r>
              <a:t>artigos</a:t>
            </a:r>
            <a:br/>
            <a:r>
              <a:t>apresentacoes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4892040"/>
            <a:ext cx="2194560" cy="9525"/>
          </a:xfrm>
          <a:prstGeom prst="rect">
            <a:avLst/>
          </a:prstGeom>
          <a:solidFill>
            <a:srgbClr val="E0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49834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2D6E43"/>
                </a:solidFill>
                <a:latin typeface="Lora"/>
              </a:defRPr>
            </a:pPr>
            <a:r>
              <a:t>Output e o teste real do conhecimento.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69280"/>
            <a:ext cx="3383280" cy="64008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Plus Jakarta Sans"/>
              </a:defRPr>
            </a:pPr>
            <a:r>
              <a:t>QUANDO FUNCIONA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Pesquisador com volume alto que precisa virar texto.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5669280"/>
            <a:ext cx="3383280" cy="64008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4632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Plus Jakarta Sans"/>
              </a:defRPr>
            </a:pPr>
            <a:r>
              <a:t>QUANDO E LIMITADO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Sem habito de captura, o pipeline trava no inicio.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5669280"/>
            <a:ext cx="3383280" cy="64008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5733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PARA O MESTRANDO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943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Fluxo natural pesquisa &gt; escrita. Cada agente = uma etapa.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03 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Plus Jakarta Sans"/>
              </a:defRPr>
            </a:pPr>
            <a:r>
              <a:t>Google Drive como infraestrutura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lus Jakarta Sans"/>
              </a:defRPr>
            </a:pPr>
            <a:r>
              <a:t>Trade-off analisado contra OneDrive. Decisao baseada em custo-beneficio + ecosistema academico.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331720"/>
            <a:ext cx="10515600" cy="4572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Plus Jakarta Sans"/>
              </a:defRPr>
            </a:pPr>
            <a:r>
              <a:t>CRITERIO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Plus Jakarta Sans"/>
              </a:defRPr>
            </a:pPr>
            <a:r>
              <a:t>CRITERIO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Plus Jakarta Sans"/>
              </a:defRPr>
            </a:pPr>
            <a:r>
              <a:t>GOOGLE 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Plus Jakarta Sans"/>
              </a:defRPr>
            </a:pPr>
            <a:r>
              <a:t>ONEDRIVE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377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Plus Jakarta Sans"/>
              </a:defRPr>
            </a:pPr>
            <a:r>
              <a:t>VENCEDOR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788920"/>
            <a:ext cx="10515600" cy="41148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620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Espaco gratuito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62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15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862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5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620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2D6E43"/>
                </a:solidFill>
                <a:latin typeface="IBM Plex Mono"/>
              </a:defRPr>
            </a:pPr>
            <a:r>
              <a:t>GDrive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73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OCR em PDFs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735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Nativo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735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Limitado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273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2D6E43"/>
                </a:solidFill>
                <a:latin typeface="IBM Plex Mono"/>
              </a:defRPr>
            </a:pPr>
            <a:r>
              <a:t>GDrive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611879"/>
            <a:ext cx="10515600" cy="41148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6850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Integracao Scholar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685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Library nativa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685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Nao 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685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2D6E43"/>
                </a:solidFill>
                <a:latin typeface="IBM Plex Mono"/>
              </a:defRPr>
            </a:pPr>
            <a:r>
              <a:t>GDrive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965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Google Colab (analise)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0965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Nativo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0965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Nao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0965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2D6E43"/>
                </a:solidFill>
                <a:latin typeface="IBM Plex Mono"/>
              </a:defRPr>
            </a:pPr>
            <a:r>
              <a:t>GDrive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434840"/>
            <a:ext cx="10515600" cy="41148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50799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Word/Excel desktop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507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Compativel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507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Nativo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5079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3A564E"/>
                </a:solidFill>
                <a:latin typeface="IBM Plex Mono"/>
              </a:defRPr>
            </a:pPr>
            <a:r>
              <a:t>OneDrive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919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Plus Jakarta Sans"/>
              </a:defRPr>
            </a:pPr>
            <a:r>
              <a:t>Plano EDU universidade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919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Workspace EDU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919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Plus Jakarta Sans"/>
              </a:defRPr>
            </a:pPr>
            <a:r>
              <a:t>M365 EDU 1TB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919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888888"/>
                </a:solidFill>
                <a:latin typeface="IBM Plex Mono"/>
              </a:defRPr>
            </a:pPr>
            <a:r>
              <a:t>Depende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5349240"/>
            <a:ext cx="10515600" cy="9601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71600" y="553212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56509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D4C878"/>
                </a:solidFill>
                <a:latin typeface="Plus Jakarta Sans"/>
              </a:defRPr>
            </a:pPr>
            <a:r>
              <a:t>DECISAO  •  Google Drive como 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Migre para OneDrive apenas se sua universidade oferece M365 EDU com 1TB e voce trabalha intensivo no Word desktop + EndNote.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Arvore PARA numerada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Plus Jakarta Sans"/>
              </a:defRPr>
            </a:pPr>
            <a:r>
              <a:t>Numeracao 00-99 garante ordem visual estavel no Drive.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640080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3A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74320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C5B358"/>
                </a:solidFill>
                <a:latin typeface="IBM Plex Mono"/>
              </a:defRPr>
            </a:pPr>
            <a:r>
              <a:t>Mestrado-{Tema}/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03580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IBM Plex Mono"/>
              </a:defRPr>
            </a:pPr>
            <a:r>
              <a:t>|-- 00_Inbox/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328415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IBM Plex Mono"/>
              </a:defRPr>
            </a:pPr>
            <a:r>
              <a:t>|-- 01_Projects/  (P do PARA: tem prazo)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621023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BM Plex Mono"/>
              </a:defRPr>
            </a:pPr>
            <a:r>
              <a:t>|-- 2026-Dissertacao/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913631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BM Plex Mono"/>
              </a:defRPr>
            </a:pPr>
            <a:r>
              <a:t>|-- 2026-Q3-Artigo-Periodico/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0624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IBM Plex Mono"/>
              </a:defRPr>
            </a:pPr>
            <a:r>
              <a:t>|-- 02_Areas/  (A do PARA: continuas)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49884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BM Plex Mono"/>
              </a:defRPr>
            </a:pPr>
            <a:r>
              <a:t>|-- Linha-Pesquisa/  Orientacao/  Disciplinas/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79145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IBM Plex Mono"/>
              </a:defRPr>
            </a:pPr>
            <a:r>
              <a:t>|-- 03_Resources/  (R do PARA: tematicos)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08406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IBM Plex Mono"/>
              </a:defRPr>
            </a:pPr>
            <a:r>
              <a:t>|-- Bibliografia/  Notas-Atomicas/  Templates/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37667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C878"/>
                </a:solidFill>
                <a:latin typeface="IBM Plex Mono"/>
              </a:defRPr>
            </a:pPr>
            <a:r>
              <a:t>|-- 04_Archive/  (concluido ou inativo)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66928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BM Plex Mono"/>
              </a:defRPr>
            </a:pPr>
            <a:r>
              <a:t>|-- 99_Sandbox/  (rascunhos descartaveis)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560320"/>
            <a:ext cx="3749039" cy="182880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743200"/>
            <a:ext cx="54864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Plus Jakarta Sans"/>
              </a:defRPr>
            </a:pPr>
            <a:r>
              <a:t>POR QUE 00 → 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20040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Drive ordena lexicograficamente.</a:t>
            </a:r>
            <a:br/>
            <a:br/>
            <a:r>
              <a:t>00_Inbox sempre no topo —</a:t>
            </a:r>
            <a:br/>
            <a:r>
              <a:t>lembra de processar.</a:t>
            </a:r>
            <a:br/>
            <a:br/>
            <a:r>
              <a:t>99_Sandbox no fundo —</a:t>
            </a:r>
            <a:br/>
            <a:r>
              <a:t>isola experimentos.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572000"/>
            <a:ext cx="3749039" cy="164592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4754880"/>
            <a:ext cx="548640" cy="381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892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C5B358"/>
                </a:solidFill>
                <a:latin typeface="Plus Jakarta Sans"/>
              </a:defRPr>
            </a:pPr>
            <a:r>
              <a:t>INSTALACAO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2120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Drive for Desktop</a:t>
            </a:r>
            <a:br/>
            <a:r>
              <a:t>sincroniza local.</a:t>
            </a:r>
            <a:br/>
            <a:r>
              <a:t>Agentes operam offline.</a:t>
            </a:r>
            <a:br/>
            <a:r>
              <a:t>Mudancas sobem auto.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05  NOMENCLATURA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Plus Jakarta Sans"/>
              </a:defRPr>
            </a:pPr>
            <a:r>
              <a:t>Convencao YYYYMMDD-tipo-slug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lus Jakarta Sans"/>
              </a:defRPr>
            </a:pPr>
            <a:r>
              <a:t>Data ISO ordenavel + tipo no nome = pesquisa em segundos.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10515600" cy="109728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C5B358"/>
                </a:solidFill>
                <a:latin typeface="IBM Plex Mono"/>
              </a:defRPr>
            </a:pPr>
            <a:r>
              <a:t>20260507-lit-foucault-vigiar-punir.md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Plus Jakarta Sans"/>
              </a:defRPr>
            </a:pPr>
            <a:r>
              <a:t>data ISO  •  tipo canonico  •  slug em kebab-case  •  extensao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65760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587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8862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Fichamento de literatura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65760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365760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8587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nota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8862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Nota atomica permanente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587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8862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Rascunho de texto autoral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365760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59" y="365760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38587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39" y="38862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Dataset bruto/tratado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52628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7280" y="452628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274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7548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Figura, diagrama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39" y="452628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49039" y="452628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47274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tab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47548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Tabela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52628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452628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7274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47548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Apresentacao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59" y="452628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2559" y="452628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59" y="47274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audio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39" y="47548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Audio (entrevista, voz)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539496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97280" y="539496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5961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transcript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56235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Transcricao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539496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749039" y="539496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39" y="55961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analise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19" y="56235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Output de analise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39496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00800" y="539496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5961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peer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6235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Peer review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52559" y="5394960"/>
            <a:ext cx="2468880" cy="73152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052559" y="5394960"/>
            <a:ext cx="731520" cy="73152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59" y="55961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D4C878"/>
                </a:solidFill>
                <a:latin typeface="IBM Plex Mono"/>
              </a:defRPr>
            </a:pPr>
            <a:r>
              <a:t>meeting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39" y="562356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Ata de orientacao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Workflow CODE adaptado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Plus Jakarta Sans"/>
              </a:defRPr>
            </a:pPr>
            <a:r>
              <a:t>Como o conteudo flui pelas pastas e pelos agentes.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06040"/>
            <a:ext cx="246888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697480"/>
            <a:ext cx="822960" cy="8229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75920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lus Jakarta Sans"/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C5B358"/>
                </a:solidFill>
                <a:latin typeface="Plus Jakarta Sans"/>
              </a:defRPr>
            </a:pPr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00_Inbox/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34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Tudo cai aqui sem julgamento.</a:t>
            </a:r>
            <a:br/>
            <a:r>
              <a:t>PDF, foto, audio, snippet.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5440680"/>
            <a:ext cx="1371600" cy="127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AAAAAA"/>
                </a:solidFill>
                <a:latin typeface="Plus Jakarta Sans"/>
              </a:defRPr>
            </a:pPr>
            <a:r>
              <a:t>AGENTE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760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academic-researcher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6160" y="4297680"/>
            <a:ext cx="228600" cy="274320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94760" y="2606040"/>
            <a:ext cx="246888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3A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2697480"/>
            <a:ext cx="822960" cy="822960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75920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lus Jakarta Sans"/>
              </a:defRPr>
            </a:pPr>
            <a: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57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C5B358"/>
                </a:solidFill>
                <a:latin typeface="Plus Jakarta Sans"/>
              </a:defRPr>
            </a:pPr>
            <a:r>
              <a:t>ORGANIZE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03_Resources/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4434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Move para PARA.</a:t>
            </a:r>
            <a:br/>
            <a:r>
              <a:t>PDFs, biblio.bib.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440680"/>
            <a:ext cx="1371600" cy="127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AAAAAA"/>
                </a:solidFill>
                <a:latin typeface="Plus Jakarta Sans"/>
              </a:defRPr>
            </a:pPr>
            <a:r>
              <a:t>AGENTE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5760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citation-manager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263640" y="4297680"/>
            <a:ext cx="228600" cy="274320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2606040"/>
            <a:ext cx="246888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0" y="2697480"/>
            <a:ext cx="822960" cy="822960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75920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lus Jakarta Sans"/>
              </a:defRPr>
            </a:pPr>
            <a: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C5B358"/>
                </a:solidFill>
                <a:latin typeface="Plus Jakarta Sans"/>
              </a:defRPr>
            </a:pPr>
            <a:r>
              <a:t>DISTILL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Notas-Atomicas/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Uma ideia por nota.</a:t>
            </a:r>
            <a:br/>
            <a:r>
              <a:t>Links bidirecionais.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5440680"/>
            <a:ext cx="1371600" cy="127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AAAAAA"/>
                </a:solidFill>
                <a:latin typeface="Plus Jakarta Sans"/>
              </a:defRPr>
            </a:pPr>
            <a:r>
              <a:t>AGENTE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760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knowledge-architect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961120" y="4297680"/>
            <a:ext cx="228600" cy="274320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89720" y="2606040"/>
            <a:ext cx="246888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12680" y="2697480"/>
            <a:ext cx="822960" cy="822960"/>
          </a:xfrm>
          <a:prstGeom prst="ellipse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12680" y="275920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Plus Jakarta Sans"/>
              </a:defRPr>
            </a:pPr>
            <a: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657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C5B358"/>
                </a:solidFill>
                <a:latin typeface="Plus Jakarta Sans"/>
              </a:defRPr>
            </a:pPr>
            <a:r>
              <a:t>EXPRESS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01_Projects/drafts/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34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00"/>
              </a:lnSpc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Texto autoral.</a:t>
            </a:r>
            <a:br/>
            <a:r>
              <a:t>Validate &gt; Audit &gt; Humanize.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60" y="5440680"/>
            <a:ext cx="1371600" cy="127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AAAAAA"/>
                </a:solidFill>
                <a:latin typeface="Plus Jakarta Sans"/>
              </a:defRPr>
            </a:pPr>
            <a:r>
              <a:t>AGENTE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5760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D4C878"/>
                </a:solidFill>
                <a:latin typeface="IBM Plex Mono"/>
              </a:defRPr>
            </a:pPr>
            <a:r>
              <a:t>academic-writer + crew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07  SQUAD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Plus Jakarta Sans"/>
              </a:defRPr>
            </a:pPr>
            <a:r>
              <a:t>9 agentes especializados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lus Jakarta Sans"/>
              </a:defRPr>
            </a:pPr>
            <a:r>
              <a:t>Cada agente atua sobre pastas especificas do Drive. Acionados na ordem do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286000"/>
            <a:ext cx="2286000" cy="640080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C5B358"/>
                </a:solidFill>
                <a:latin typeface="Plus Jakarta Sans"/>
              </a:defRPr>
            </a:pPr>
            <a:r>
              <a:t>VOCE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6517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mestrando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2697480" cy="3175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methodology-advisor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Desenho metodologico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20040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3200400"/>
            <a:ext cx="2697480" cy="3175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academic-researcher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6576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Curadoria de fontes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0040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200400"/>
            <a:ext cx="269748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source-validator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576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Anti-alucinacao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20040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3200400"/>
            <a:ext cx="2697480" cy="3175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knowledge-architect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6576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Zettelkasten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297680"/>
            <a:ext cx="2697480" cy="3175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34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academic-writer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548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Redacao ABNT/APA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29768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4297680"/>
            <a:ext cx="2697480" cy="317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434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citation-manager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7548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Bibliografia .bib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29768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4297680"/>
            <a:ext cx="269748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434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ai-pattern-auditor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7548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Mapa de calor de 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429768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4297680"/>
            <a:ext cx="2697480" cy="3175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4434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voice-humanizer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7548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Voz autoral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5394960"/>
            <a:ext cx="2697480" cy="868680"/>
          </a:xfrm>
          <a:prstGeom prst="roundRect">
            <a:avLst/>
          </a:prstGeom>
          <a:solidFill>
            <a:srgbClr val="F4F1EA"/>
          </a:solidFill>
          <a:ln w="9525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5394960"/>
            <a:ext cx="2697480" cy="3175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IBM Plex Mono"/>
              </a:defRPr>
            </a:pPr>
            <a:r>
              <a:t>peer-reviewer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8521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Banca simulada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023360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C5B358"/>
                </a:solidFill>
                <a:latin typeface="IBM Plex Mono"/>
              </a:defRPr>
            </a:pPr>
            <a:r>
              <a:t>NOVO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07.A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lus Jakarta Sans"/>
              </a:defRPr>
            </a:pPr>
            <a:r>
              <a:t>Pesquisa &amp; curadoria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D4C878"/>
                </a:solidFill>
                <a:latin typeface="IBM Plex Mono"/>
              </a:defRPr>
            </a:pPr>
            <a:r>
              <a:t>methodology-advisor  →  academic-researcher  →  source-validator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361188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methodology-advisor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Plus Jakarta Sans"/>
              </a:defRPr>
            </a:pPr>
            <a:r>
              <a:t>Desenho metodologico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02_Areas/Orientacao/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memory/project_thesis.md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01_Projects/{atual}/metodologia.md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memory/project_methodology.md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Inicio de cada novo projeto.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606040"/>
            <a:ext cx="361188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academic-researcher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Plus Jakarta Sans"/>
              </a:defRPr>
            </a:pPr>
            <a:r>
              <a:t>Curadoria de fontes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memory/project_thesis.md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memory/project_keywords.md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03_Resources/Bibliografia/PDFs/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research/{data}-{slug}/sources.md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897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Revisao de literatura e atualizacao do estado da arte.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606040"/>
            <a:ext cx="361188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source-validator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Plus Jakarta Sans"/>
              </a:defRPr>
            </a:pPr>
            <a:r>
              <a:t>Anti-alucinacao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drafts/*.md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biblio.bib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peer-review/{data}-validacao-{slug}.md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897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APOS qualquer output de IA, ANTES de submissao.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07.B  CONHECIMENTO &amp; REDACAO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E1E1E"/>
                </a:solidFill>
                <a:latin typeface="Plus Jakarta Sans"/>
              </a:defRPr>
            </a:pPr>
            <a:r>
              <a:t>Conhecimento &amp; redacao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C5B358"/>
                </a:solidFill>
                <a:latin typeface="IBM Plex Mono"/>
              </a:defRPr>
            </a:pPr>
            <a:r>
              <a:t>knowledge-architect  →  academic-writer  →  citation-manager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3611880" cy="365760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knowledge-architect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Zettelkasten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PDFs em Bibliografia/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Audios dictados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Notas-Atomicas/permanent/{ts}-{slug}.md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Notas-Atomicas/index/moc-{tema}.md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A cada leitura/insight + rito quinzenal de promocao.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606040"/>
            <a:ext cx="3611880" cy="365760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academic-writer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Redacao ABNT/APA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Notas-Atomicas/permanent/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biblio.bib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982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memory/user_writing_voice.md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7457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01_Projects/{atual}/drafts/{capitulo}.md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897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Sprint de redacao com 8-12 notas conectadas.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606040"/>
            <a:ext cx="3611880" cy="3657600"/>
          </a:xfrm>
          <a:prstGeom prst="roundRect">
            <a:avLst/>
          </a:prstGeom>
          <a:solidFill>
            <a:srgbClr val="F4F1EA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citation-manager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Bibliografia .bib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Listas de referencias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DOIs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biblio.bib (UNICO no Drive)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IBM Plex Mono"/>
              </a:defRPr>
            </a:pPr>
            <a:r>
              <a:t>• referencias-{norma}.md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1E1E1E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897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4A4A4A"/>
                </a:solidFill>
                <a:latin typeface="Plus Jakarta Sans"/>
              </a:defRPr>
            </a:pPr>
            <a:r>
              <a:t>Toda nova fonte + antes de cada submissao.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07.C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lus Jakarta Sans"/>
              </a:defRPr>
            </a:pPr>
            <a:r>
              <a:t>Polimento &amp; banca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D4C878"/>
                </a:solidFill>
                <a:latin typeface="IBM Plex Mono"/>
              </a:defRPr>
            </a:pPr>
            <a:r>
              <a:t>ai-pattern-auditor  →  voice-humanizer  →  peer-reviewer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361188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2468880"/>
            <a:ext cx="777240" cy="27432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2505456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0B2823"/>
                </a:solidFill>
                <a:latin typeface="IBM Plex Mono"/>
              </a:defRPr>
            </a:pPr>
            <a:r>
              <a:t>NOVO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ai-pattern-auditor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Plus Jakarta Sans"/>
              </a:defRPr>
            </a:pPr>
            <a:r>
              <a:t>Mapa de calor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memory/user_writing_voice.md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drafts a auditar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peer-review/{data}-ai-audit-{slug}.md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memory/ai_audit_log.md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ANTES do voice-humanizer. Aponta trechos para reescrita focada.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606040"/>
            <a:ext cx="361188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0880" y="2468880"/>
            <a:ext cx="777240" cy="27432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505456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0B2823"/>
                </a:solidFill>
                <a:latin typeface="IBM Plex Mono"/>
              </a:defRPr>
            </a:pPr>
            <a:r>
              <a:t>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voice-humanizer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Plus Jakarta Sans"/>
              </a:defRPr>
            </a:pPr>
            <a:r>
              <a:t>Voz autoral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memory/voice_questionnaire.md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user_writing_voice.md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489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drafts reescritos com aluno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memory/voice_calibration_log.md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897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Aplica QUESTIONARIO de calibracao na 1a sessao.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606040"/>
            <a:ext cx="361188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278892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C5B358"/>
                </a:solidFill>
                <a:latin typeface="IBM Plex Mono"/>
              </a:defRPr>
            </a:pPr>
            <a:r>
              <a:t>peer-reviewer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246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Plus Jakarta Sans"/>
              </a:defRPr>
            </a:pPr>
            <a:r>
              <a:t>Banca simulada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886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drafts completos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142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metodologia.md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982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MOCs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7457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ESCREVE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peer-review/{data}-banca-{slug}.md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2303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IBM Plex Mono"/>
              </a:defRPr>
            </a:pPr>
            <a:r>
              <a:t>• memory/banca_questions.md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669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C878"/>
                </a:solidFill>
                <a:latin typeface="Plus Jakarta Sans"/>
              </a:defRPr>
            </a:pPr>
            <a:r>
              <a:t>TRIGGER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897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ANTES de qualificacao, defesa ou submissao.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08  VOICE-HUMANIZER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Plus Jakarta Sans"/>
              </a:defRPr>
            </a:pPr>
            <a:r>
              <a:t>Questionario de calibracao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lus Jakarta Sans"/>
              </a:defRPr>
            </a:pPr>
            <a:r>
              <a:t>21 perguntas em 5 blocos. Aplicado na primeira sessao com cada aluno.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10515600" cy="71323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77440"/>
            <a:ext cx="1737360" cy="713232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Plus Jakarta Sans"/>
              </a:defRPr>
            </a:pPr>
            <a:r>
              <a:t>Bloco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41448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Identidade academica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4320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Area, nivel de formalidade, eu/nos/impessoal,</a:t>
            </a:r>
            <a:br/>
            <a:r>
              <a:t>autores admirados/rejeitados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154680"/>
            <a:ext cx="10515600" cy="71323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3154680"/>
            <a:ext cx="1737360" cy="713232"/>
          </a:xfrm>
          <a:prstGeom prst="round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644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Plus Jakarta Sans"/>
              </a:defRPr>
            </a:pPr>
            <a:r>
              <a:t>Bloco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3872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18688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Repertorio linguistico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2044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5 palavras que voce usa, 5 que rejeita,</a:t>
            </a:r>
            <a:br/>
            <a:r>
              <a:t>frase curta/longa, verbo padrao de posicionamento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31920"/>
            <a:ext cx="10515600" cy="71323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3931920"/>
            <a:ext cx="1737360" cy="713232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416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2823"/>
                </a:solidFill>
                <a:latin typeface="Plus Jakarta Sans"/>
              </a:defRPr>
            </a:pPr>
            <a:r>
              <a:t>Bloco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1596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0B2823"/>
                </a:solidFill>
                <a:latin typeface="IBM Plex Mono"/>
              </a:defRPr>
            </a:pPr>
            <a:r>
              <a:t>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995928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Habitos de escrita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2976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Direto/oral/manual, como reage ao bloqueio,</a:t>
            </a:r>
            <a:br/>
            <a:r>
              <a:t>tempo em revisao, sensacao ao reler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515600" cy="71323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4709160"/>
            <a:ext cx="1737360" cy="71323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188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Plus Jakarta Sans"/>
              </a:defRPr>
            </a:pPr>
            <a:r>
              <a:t>Bloco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9320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773168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Posicionamento e ethos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07492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Conciliador/provocador/didatico/sintetico,</a:t>
            </a:r>
            <a:br/>
            <a:r>
              <a:t>como aborda autor citado, tema com urgencia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486400"/>
            <a:ext cx="10515600" cy="71323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97280" y="5486400"/>
            <a:ext cx="1737360" cy="713232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5961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D4C878"/>
                </a:solidFill>
                <a:latin typeface="Plus Jakarta Sans"/>
              </a:defRPr>
            </a:pPr>
            <a:r>
              <a:t>Bloco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87044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IBM Plex Mono"/>
              </a:defRPr>
            </a:pPr>
            <a:r>
              <a:t>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550408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Materiais para analise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85216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4A4A4A"/>
                </a:solidFill>
                <a:latin typeface="Plus Jakarta Sans"/>
              </a:defRPr>
            </a:pPr>
            <a:r>
              <a:t>3 textos seus bons + 1 odiado + 1 informal</a:t>
            </a:r>
            <a:br/>
            <a:r>
              <a:t>para extracao de padroes estilisticos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6355080"/>
            <a:ext cx="10515600" cy="384048"/>
          </a:xfrm>
          <a:prstGeom prst="round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64190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SAIDA  •  memory/voice_questionnaire.md (bruto) + memory/user_writing_voice.md (perfil destilado)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08.B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AI Pattern Auditor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Plus Jakarta Sans"/>
              </a:defRPr>
            </a:pPr>
            <a:r>
              <a:t>Diagnostica trechos com marca de IA. NAO reescreve — entrega mapa de calor para humanizacao focada.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06040"/>
            <a:ext cx="521208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TAXONOMIA DE MARCADORES</a:t>
            </a:r>
          </a:p>
        </p:txBody>
      </p:sp>
      <p:sp>
        <p:nvSpPr>
          <p:cNvPr id="8" name="Oval 7"/>
          <p:cNvSpPr/>
          <p:nvPr/>
        </p:nvSpPr>
        <p:spPr>
          <a:xfrm>
            <a:off x="1389888" y="3172968"/>
            <a:ext cx="329184" cy="329184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31976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191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Estatisticos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9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burstiness, comprimento, repeticao</a:t>
            </a:r>
          </a:p>
        </p:txBody>
      </p:sp>
      <p:sp>
        <p:nvSpPr>
          <p:cNvPr id="12" name="Oval 11"/>
          <p:cNvSpPr/>
          <p:nvPr/>
        </p:nvSpPr>
        <p:spPr>
          <a:xfrm>
            <a:off x="1389888" y="3721608"/>
            <a:ext cx="329184" cy="329184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74629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398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Lexicais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9776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clichês, hedging, tripartites</a:t>
            </a:r>
          </a:p>
        </p:txBody>
      </p:sp>
      <p:sp>
        <p:nvSpPr>
          <p:cNvPr id="16" name="Oval 15"/>
          <p:cNvSpPr/>
          <p:nvPr/>
        </p:nvSpPr>
        <p:spPr>
          <a:xfrm>
            <a:off x="1389888" y="4270248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2949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885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Retoricos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526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sem posicionamento, conclusao redundante</a:t>
            </a:r>
          </a:p>
        </p:txBody>
      </p:sp>
      <p:sp>
        <p:nvSpPr>
          <p:cNvPr id="20" name="Oval 19"/>
          <p:cNvSpPr/>
          <p:nvPr/>
        </p:nvSpPr>
        <p:spPr>
          <a:xfrm>
            <a:off x="1389888" y="4818888"/>
            <a:ext cx="329184" cy="329184"/>
          </a:xfrm>
          <a:prstGeom prst="ellipse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48435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837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Voz ausente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0749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verbo errado, sem palavra-forte do aluno</a:t>
            </a:r>
          </a:p>
        </p:txBody>
      </p:sp>
      <p:sp>
        <p:nvSpPr>
          <p:cNvPr id="24" name="Oval 23"/>
          <p:cNvSpPr/>
          <p:nvPr/>
        </p:nvSpPr>
        <p:spPr>
          <a:xfrm>
            <a:off x="1389888" y="5367528"/>
            <a:ext cx="329184" cy="329184"/>
          </a:xfrm>
          <a:prstGeom prst="ellipse">
            <a:avLst/>
          </a:prstGeom>
          <a:solidFill>
            <a:srgbClr val="D4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53922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3858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Integridade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623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citacao perfeita demais, dado sem fonte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606040"/>
            <a:ext cx="5029200" cy="3657600"/>
          </a:xfrm>
          <a:prstGeom prst="roundRect">
            <a:avLst/>
          </a:prstGeom>
          <a:solidFill>
            <a:srgbClr val="2D453E"/>
          </a:solidFill>
          <a:ln w="635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743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EXEMPLO DE HEATMAP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200400"/>
            <a:ext cx="457200" cy="4114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2644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P1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3364992"/>
            <a:ext cx="2926080" cy="254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3364992"/>
            <a:ext cx="2545689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320040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IBM Plex Mono"/>
              </a:defRPr>
            </a:pPr>
            <a:r>
              <a:t>8.7 • CRITICO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4290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Plus Jakarta Sans"/>
              </a:defRPr>
            </a:pPr>
            <a:r>
              <a:t>B1, B3, C1, D2, D6 — reescrever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749039"/>
            <a:ext cx="457200" cy="4114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D4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81304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P2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3913631"/>
            <a:ext cx="2926080" cy="254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69480" y="3913631"/>
            <a:ext cx="1872691" cy="25400"/>
          </a:xfrm>
          <a:prstGeom prst="rect">
            <a:avLst/>
          </a:prstGeom>
          <a:solidFill>
            <a:srgbClr val="D4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3749039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8B1F"/>
                </a:solidFill>
                <a:latin typeface="IBM Plex Mono"/>
              </a:defRPr>
            </a:pPr>
            <a:r>
              <a:t>6.4 • ALTO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977639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Plus Jakarta Sans"/>
              </a:defRPr>
            </a:pPr>
            <a:r>
              <a:t>B7, C7, D3 — cirurgia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4297680"/>
            <a:ext cx="457200" cy="4114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361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P3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4462272"/>
            <a:ext cx="2926080" cy="254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69480" y="4462272"/>
            <a:ext cx="907084" cy="254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429768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D6E43"/>
                </a:solidFill>
                <a:latin typeface="IBM Plex Mono"/>
              </a:defRPr>
            </a:pPr>
            <a:r>
              <a:t>3.1 • BAIXO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52628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Plus Jakarta Sans"/>
              </a:defRPr>
            </a:pPr>
            <a:r>
              <a:t>voz consolidada — manter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4846320"/>
            <a:ext cx="457200" cy="4114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9103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P4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80" y="5010912"/>
            <a:ext cx="2926080" cy="254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69480" y="5010912"/>
            <a:ext cx="2399385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69480" y="484632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IBM Plex Mono"/>
              </a:defRPr>
            </a:pPr>
            <a:r>
              <a:t>8.2 • CRITICO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50749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Plus Jakarta Sans"/>
              </a:defRPr>
            </a:pPr>
            <a:r>
              <a:t>B1, C3, D4 — reescrever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75120" y="5394960"/>
            <a:ext cx="457200" cy="4114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D4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5458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D4C878"/>
                </a:solidFill>
                <a:latin typeface="IBM Plex Mono"/>
              </a:defRPr>
            </a:pPr>
            <a:r>
              <a:t>P5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69480" y="5559552"/>
            <a:ext cx="2926080" cy="254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69480" y="5559552"/>
            <a:ext cx="1609344" cy="25400"/>
          </a:xfrm>
          <a:prstGeom prst="rect">
            <a:avLst/>
          </a:prstGeom>
          <a:solidFill>
            <a:srgbClr val="D4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69480" y="539496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D48B1F"/>
                </a:solidFill>
                <a:latin typeface="IBM Plex Mono"/>
              </a:defRPr>
            </a:pPr>
            <a:r>
              <a:t>5.5 • MEDIO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562356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Plus Jakarta Sans"/>
              </a:defRPr>
            </a:pPr>
            <a:r>
              <a:t>B4 — ajuste pontual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C5B358"/>
                </a:solidFill>
                <a:latin typeface="Plus Jakarta Sans"/>
              </a:defRPr>
            </a:pPr>
            <a:r>
              <a:t>09  PESQUISA RAPIDA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E1E1E"/>
                </a:solidFill>
                <a:latin typeface="Plus Jakarta Sans"/>
              </a:defRPr>
            </a:pPr>
            <a:r>
              <a:t>Achar qualquer coisa em 5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Plus Jakarta Sans"/>
              </a:defRPr>
            </a:pPr>
            <a:r>
              <a:t>Cinco estrategias de busca cobrindo todos os cenarios da jornada.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657600" cy="19659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657600" cy="38100"/>
          </a:xfrm>
          <a:prstGeom prst="rect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B2823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688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Drive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Plus Jakarta Sans"/>
              </a:defRPr>
            </a:pPr>
            <a:r>
              <a:t>Interface oficial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00400"/>
            <a:ext cx="64008" cy="64008"/>
          </a:xfrm>
          <a:prstGeom prst="ellipse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type:pdf foucault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520440"/>
            <a:ext cx="64008" cy="64008"/>
          </a:xfrm>
          <a:prstGeom prst="ellipse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before:2026-01-01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840479"/>
            <a:ext cx="64008" cy="64008"/>
          </a:xfrm>
          <a:prstGeom prst="ellipse">
            <a:avLst/>
          </a:prstGeom>
          <a:solidFill>
            <a:srgbClr val="0B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490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OCR busca dentro do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331720"/>
            <a:ext cx="3657600" cy="19659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331720"/>
            <a:ext cx="365760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468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3A564E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688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Windows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889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Plus Jakarta Sans"/>
              </a:defRPr>
            </a:pPr>
            <a:r>
              <a:t>Drive for Desktop</a:t>
            </a:r>
          </a:p>
        </p:txBody>
      </p:sp>
      <p:sp>
        <p:nvSpPr>
          <p:cNvPr id="22" name="Oval 21"/>
          <p:cNvSpPr/>
          <p:nvPr/>
        </p:nvSpPr>
        <p:spPr>
          <a:xfrm>
            <a:off x="4709160" y="3200400"/>
            <a:ext cx="64008" cy="64008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Ctrl+F no Explorer</a:t>
            </a:r>
          </a:p>
        </p:txBody>
      </p:sp>
      <p:sp>
        <p:nvSpPr>
          <p:cNvPr id="24" name="Oval 23"/>
          <p:cNvSpPr/>
          <p:nvPr/>
        </p:nvSpPr>
        <p:spPr>
          <a:xfrm>
            <a:off x="4709160" y="3520440"/>
            <a:ext cx="64008" cy="64008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Filtro ISO ordenavel</a:t>
            </a:r>
          </a:p>
        </p:txBody>
      </p:sp>
      <p:sp>
        <p:nvSpPr>
          <p:cNvPr id="26" name="Oval 25"/>
          <p:cNvSpPr/>
          <p:nvPr/>
        </p:nvSpPr>
        <p:spPr>
          <a:xfrm>
            <a:off x="4709160" y="3840479"/>
            <a:ext cx="64008" cy="64008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7490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Pre-visualizacao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331720"/>
            <a:ext cx="3657600" cy="19659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2331720"/>
            <a:ext cx="36576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468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C5B358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4688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Busca semantica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7889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Plus Jakarta Sans"/>
              </a:defRPr>
            </a:pPr>
            <a:r>
              <a:t>knowledge-architect</a:t>
            </a:r>
          </a:p>
        </p:txBody>
      </p:sp>
      <p:sp>
        <p:nvSpPr>
          <p:cNvPr id="33" name="Oval 32"/>
          <p:cNvSpPr/>
          <p:nvPr/>
        </p:nvSpPr>
        <p:spPr>
          <a:xfrm>
            <a:off x="8549640" y="3200400"/>
            <a:ext cx="64008" cy="64008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Liste notas Foucault↔Deleuze</a:t>
            </a:r>
          </a:p>
        </p:txBody>
      </p:sp>
      <p:sp>
        <p:nvSpPr>
          <p:cNvPr id="35" name="Oval 34"/>
          <p:cNvSpPr/>
          <p:nvPr/>
        </p:nvSpPr>
        <p:spPr>
          <a:xfrm>
            <a:off x="8549640" y="3520440"/>
            <a:ext cx="64008" cy="64008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Por relacao semantica</a:t>
            </a:r>
          </a:p>
        </p:txBody>
      </p:sp>
      <p:sp>
        <p:nvSpPr>
          <p:cNvPr id="37" name="Oval 36"/>
          <p:cNvSpPr/>
          <p:nvPr/>
        </p:nvSpPr>
        <p:spPr>
          <a:xfrm>
            <a:off x="8549640" y="3840479"/>
            <a:ext cx="64008" cy="64008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37490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Cobre o que tag nao captura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434840"/>
            <a:ext cx="3657600" cy="19659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434840"/>
            <a:ext cx="3657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572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45720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Tag (grep)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89204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Plus Jakarta Sans"/>
              </a:defRPr>
            </a:pPr>
            <a:r>
              <a:t>Frontmatter YAML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" y="5303520"/>
            <a:ext cx="64008" cy="6400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212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grep -lr 'tags:.*foucault'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" y="5623560"/>
            <a:ext cx="64008" cy="6400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532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Filtro por status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" y="5943599"/>
            <a:ext cx="64008" cy="6400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8521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Listagem por projeto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80560" y="4434840"/>
            <a:ext cx="3657600" cy="1965960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4434840"/>
            <a:ext cx="3657600" cy="381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4572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4A4A4A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45720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E1E1E"/>
                </a:solidFill>
                <a:latin typeface="Plus Jakarta Sans"/>
              </a:defRPr>
            </a:pPr>
            <a:r>
              <a:t>MOCs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489204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Plus Jakarta Sans"/>
              </a:defRPr>
            </a:pPr>
            <a:r>
              <a:t>Curado manualmente</a:t>
            </a:r>
          </a:p>
        </p:txBody>
      </p:sp>
      <p:sp>
        <p:nvSpPr>
          <p:cNvPr id="55" name="Oval 54"/>
          <p:cNvSpPr/>
          <p:nvPr/>
        </p:nvSpPr>
        <p:spPr>
          <a:xfrm>
            <a:off x="4709160" y="5303520"/>
            <a:ext cx="64008" cy="64008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5212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index/moc-{tema}.md</a:t>
            </a:r>
          </a:p>
        </p:txBody>
      </p:sp>
      <p:sp>
        <p:nvSpPr>
          <p:cNvPr id="57" name="Oval 56"/>
          <p:cNvSpPr/>
          <p:nvPr/>
        </p:nvSpPr>
        <p:spPr>
          <a:xfrm>
            <a:off x="4709160" y="5623560"/>
            <a:ext cx="64008" cy="64008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2040" y="5532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Portao de entrada</a:t>
            </a:r>
          </a:p>
        </p:txBody>
      </p:sp>
      <p:sp>
        <p:nvSpPr>
          <p:cNvPr id="59" name="Oval 58"/>
          <p:cNvSpPr/>
          <p:nvPr/>
        </p:nvSpPr>
        <p:spPr>
          <a:xfrm>
            <a:off x="4709160" y="5943599"/>
            <a:ext cx="64008" cy="64008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92040" y="585215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IBM Plex Mono"/>
              </a:defRPr>
            </a:pPr>
            <a:r>
              <a:t>Comece pelo MOC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IBM Plex Mono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lus Jakarta Sans"/>
              </a:defRPr>
            </a:pPr>
            <a:r>
              <a:t>Obsidian — interface unificada do squad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Plus Jakarta Sans"/>
              </a:defRPr>
            </a:pPr>
            <a:r>
              <a:t>Tier 1 da estrategia de UI  •  gratuito, local, offline  •  30 min de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10515600" cy="77724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Plus Jakarta Sans"/>
              </a:defRPr>
            </a:pPr>
            <a:r>
              <a:t>PRINCIPIO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Lora"/>
              </a:defRPr>
            </a:pPr>
            <a:r>
              <a:t>Mesmos arquivos .md que os agentes editam — sem duplicacao, sem sincronizacao.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83280"/>
            <a:ext cx="5120640" cy="137160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566160"/>
            <a:ext cx="45720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5B358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5478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Grafo Zettelkasten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8862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Visualizacao da rede</a:t>
            </a:r>
            <a:br/>
            <a:r>
              <a:t>de notas linkadas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547872"/>
            <a:ext cx="1874519" cy="10972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639312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D4C878"/>
                </a:solidFill>
                <a:latin typeface="IBM Plex Mono"/>
              </a:defRPr>
            </a:pPr>
            <a:r>
              <a:t>Ctrl+G abre o grafo.</a:t>
            </a:r>
            <a:br/>
            <a:r>
              <a:t>Filtros por tag/pasta</a:t>
            </a:r>
            <a:br/>
            <a:r>
              <a:t>revelam sub-redes.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383280"/>
            <a:ext cx="5120640" cy="137160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3A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3566160"/>
            <a:ext cx="457200" cy="3810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6758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3A564E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5478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Dataview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8862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Queries SQL-like sobre</a:t>
            </a:r>
            <a:br/>
            <a:r>
              <a:t>o frontmatter dos 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3547872"/>
            <a:ext cx="1874519" cy="10972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639312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D4C878"/>
                </a:solidFill>
                <a:latin typeface="IBM Plex Mono"/>
              </a:defRPr>
            </a:pPr>
            <a:r>
              <a:t>TABLE status, tags</a:t>
            </a:r>
            <a:br/>
            <a:r>
              <a:t>FROM "Notas-Atomicas"</a:t>
            </a:r>
            <a:br/>
            <a:r>
              <a:t>WHERE contains(tags,</a:t>
            </a:r>
            <a:br/>
            <a:r>
              <a:t>  "foucault")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892040"/>
            <a:ext cx="5120640" cy="137160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5074920"/>
            <a:ext cx="4572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184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50566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Smart Connections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53949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Chat com seu vault</a:t>
            </a:r>
            <a:br/>
            <a:r>
              <a:t>+ busca semantica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5056632"/>
            <a:ext cx="1874519" cy="10972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5148072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D4C878"/>
                </a:solidFill>
                <a:latin typeface="IBM Plex Mono"/>
              </a:defRPr>
            </a:pPr>
            <a:r>
              <a:t>"Quais notas conectam</a:t>
            </a:r>
            <a:br/>
            <a:r>
              <a:t>Foucault e Deleuze?"</a:t>
            </a:r>
            <a:br/>
            <a:br/>
            <a:r>
              <a:t>Responde citando</a:t>
            </a:r>
            <a:br/>
            <a:r>
              <a:t>as notas usadas.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892040"/>
            <a:ext cx="5120640" cy="1371600"/>
          </a:xfrm>
          <a:prstGeom prst="roundRect">
            <a:avLst/>
          </a:prstGeom>
          <a:solidFill>
            <a:srgbClr val="2D453E"/>
          </a:solidFill>
          <a:ln w="9525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0840" y="5074920"/>
            <a:ext cx="457200" cy="3810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5184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D6E43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566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Templater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3949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AAAAAA"/>
                </a:solidFill>
                <a:latin typeface="Plus Jakarta Sans"/>
              </a:defRPr>
            </a:pPr>
            <a:r>
              <a:t>Templates de fichamento,</a:t>
            </a:r>
            <a:br/>
            <a:r>
              <a:t>nota atomica, daily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5480" y="5056632"/>
            <a:ext cx="1874519" cy="1097280"/>
          </a:xfrm>
          <a:prstGeom prst="roundRect">
            <a:avLst/>
          </a:prstGeom>
          <a:solidFill>
            <a:srgbClr val="0B2823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5148072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900" b="0">
                <a:solidFill>
                  <a:srgbClr val="D4C878"/>
                </a:solidFill>
                <a:latin typeface="IBM Plex Mono"/>
              </a:defRPr>
            </a:pPr>
            <a:r>
              <a:t>Ctrl+Shift+N</a:t>
            </a:r>
            <a:br/>
            <a:r>
              <a:t>cria nota atomica</a:t>
            </a:r>
            <a:br/>
            <a:r>
              <a:t>com frontmatter</a:t>
            </a:r>
            <a:br/>
            <a:r>
              <a:t>pre-preenchido.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6400800"/>
            <a:ext cx="10515600" cy="292608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B2823"/>
                </a:solidFill>
                <a:latin typeface="IBM Plex Mono"/>
              </a:defRPr>
            </a:pPr>
            <a:r>
              <a:t>INTEGRACAO COM O SQUAD  •  Agentes editam .md &gt; Obsidian recarrega auto &gt; Smart Connections re-embedda em background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D4C878"/>
                </a:solidFill>
                <a:latin typeface="IBM Plex Mono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Cronograma de adocao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97280" cy="3810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Plus Jakarta Sans"/>
              </a:defRPr>
            </a:pPr>
            <a:r>
              <a:t>De zero ao primeiro fluxo CODE completo em 4 semanas.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260604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3A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5900" y="2743200"/>
            <a:ext cx="731520" cy="731520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5900" y="279806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C5B358"/>
                </a:solidFill>
                <a:latin typeface="Plus Jakarta Sans"/>
              </a:defRPr>
            </a:pPr>
            <a:r>
              <a:t>Estrutura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023360"/>
            <a:ext cx="777240" cy="19050"/>
          </a:xfrm>
          <a:prstGeom prst="rect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4343400"/>
            <a:ext cx="73152" cy="73152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Criar Mestrado-{Tema}/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754880"/>
            <a:ext cx="73152" cy="73152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Replicar arvore PARA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166360"/>
            <a:ext cx="73152" cy="73152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Drive for Desktop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577840"/>
            <a:ext cx="73152" cy="73152"/>
          </a:xfrm>
          <a:prstGeom prst="ellipse">
            <a:avLst/>
          </a:prstGeom>
          <a:solidFill>
            <a:srgbClr val="3A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Mover material para Inbox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54680" y="4297680"/>
            <a:ext cx="228600" cy="274320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3280" y="2606040"/>
            <a:ext cx="260604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C5B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0540" y="2743200"/>
            <a:ext cx="731520" cy="731520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540" y="279806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611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C5B358"/>
                </a:solidFill>
                <a:latin typeface="Plus Jakarta Sans"/>
              </a:defRPr>
            </a:pPr>
            <a:r>
              <a:t>Calibracao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023360"/>
            <a:ext cx="777240" cy="19050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11880" y="4343400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memory/project_thesis.md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4754880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memory/citation_style.md</a:t>
            </a:r>
          </a:p>
        </p:txBody>
      </p:sp>
      <p:sp>
        <p:nvSpPr>
          <p:cNvPr id="29" name="Oval 28"/>
          <p:cNvSpPr/>
          <p:nvPr/>
        </p:nvSpPr>
        <p:spPr>
          <a:xfrm>
            <a:off x="3611880" y="5166360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5074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Questionario voice-humanizer</a:t>
            </a:r>
          </a:p>
        </p:txBody>
      </p:sp>
      <p:sp>
        <p:nvSpPr>
          <p:cNvPr id="31" name="Oval 30"/>
          <p:cNvSpPr/>
          <p:nvPr/>
        </p:nvSpPr>
        <p:spPr>
          <a:xfrm>
            <a:off x="3611880" y="5577840"/>
            <a:ext cx="73152" cy="73152"/>
          </a:xfrm>
          <a:prstGeom prst="ellipse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3 textos antigos para extracao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89320" y="4297680"/>
            <a:ext cx="228600" cy="274320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2606040"/>
            <a:ext cx="260604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55180" y="2743200"/>
            <a:ext cx="731520" cy="7315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5180" y="279806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S3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611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C5B358"/>
                </a:solidFill>
                <a:latin typeface="Plus Jakarta Sans"/>
              </a:defRPr>
            </a:pPr>
            <a:r>
              <a:t>Primeiro CODE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4023360"/>
            <a:ext cx="777240" cy="190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6520" y="4343400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5 fontes via researcher</a:t>
            </a:r>
          </a:p>
        </p:txBody>
      </p:sp>
      <p:sp>
        <p:nvSpPr>
          <p:cNvPr id="41" name="Oval 40"/>
          <p:cNvSpPr/>
          <p:nvPr/>
        </p:nvSpPr>
        <p:spPr>
          <a:xfrm>
            <a:off x="6446520" y="4754880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Validar com source-validator</a:t>
            </a:r>
          </a:p>
        </p:txBody>
      </p:sp>
      <p:sp>
        <p:nvSpPr>
          <p:cNvPr id="43" name="Oval 42"/>
          <p:cNvSpPr/>
          <p:nvPr/>
        </p:nvSpPr>
        <p:spPr>
          <a:xfrm>
            <a:off x="6446520" y="5166360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074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Fichar com architect</a:t>
            </a:r>
          </a:p>
        </p:txBody>
      </p:sp>
      <p:sp>
        <p:nvSpPr>
          <p:cNvPr id="45" name="Oval 44"/>
          <p:cNvSpPr/>
          <p:nvPr/>
        </p:nvSpPr>
        <p:spPr>
          <a:xfrm>
            <a:off x="6446520" y="5577840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5 notas atomicas linkadas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8823960" y="4297680"/>
            <a:ext cx="228600" cy="274320"/>
          </a:xfrm>
          <a:prstGeom prst="rightArrow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52560" y="2606040"/>
            <a:ext cx="2606040" cy="3703320"/>
          </a:xfrm>
          <a:prstGeom prst="roundRect">
            <a:avLst/>
          </a:prstGeom>
          <a:solidFill>
            <a:srgbClr val="2D453E"/>
          </a:solidFill>
          <a:ln w="12700">
            <a:solidFill>
              <a:srgbClr val="2D6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89820" y="2743200"/>
            <a:ext cx="731520" cy="731520"/>
          </a:xfrm>
          <a:prstGeom prst="ellipse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89820" y="279806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S4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3611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C5B358"/>
                </a:solidFill>
                <a:latin typeface="Plus Jakarta Sans"/>
              </a:defRPr>
            </a:pPr>
            <a:r>
              <a:t>Primeiro Express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4023360"/>
            <a:ext cx="777240" cy="19050"/>
          </a:xfrm>
          <a:prstGeom prst="rect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281160" y="4343400"/>
            <a:ext cx="73152" cy="73152"/>
          </a:xfrm>
          <a:prstGeom prst="ellipse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404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8-12 notas conectadas</a:t>
            </a:r>
          </a:p>
        </p:txBody>
      </p:sp>
      <p:sp>
        <p:nvSpPr>
          <p:cNvPr id="55" name="Oval 54"/>
          <p:cNvSpPr/>
          <p:nvPr/>
        </p:nvSpPr>
        <p:spPr>
          <a:xfrm>
            <a:off x="9281160" y="4754880"/>
            <a:ext cx="73152" cy="73152"/>
          </a:xfrm>
          <a:prstGeom prst="ellipse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4663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writer redige 1500 palavras</a:t>
            </a:r>
          </a:p>
        </p:txBody>
      </p:sp>
      <p:sp>
        <p:nvSpPr>
          <p:cNvPr id="57" name="Oval 56"/>
          <p:cNvSpPr/>
          <p:nvPr/>
        </p:nvSpPr>
        <p:spPr>
          <a:xfrm>
            <a:off x="9281160" y="5166360"/>
            <a:ext cx="73152" cy="73152"/>
          </a:xfrm>
          <a:prstGeom prst="ellipse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64040" y="5074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Auditor + humanizer + peer</a:t>
            </a:r>
          </a:p>
        </p:txBody>
      </p:sp>
      <p:sp>
        <p:nvSpPr>
          <p:cNvPr id="59" name="Oval 58"/>
          <p:cNvSpPr/>
          <p:nvPr/>
        </p:nvSpPr>
        <p:spPr>
          <a:xfrm>
            <a:off x="9281160" y="5577840"/>
            <a:ext cx="73152" cy="73152"/>
          </a:xfrm>
          <a:prstGeom prst="ellipse">
            <a:avLst/>
          </a:prstGeom>
          <a:solidFill>
            <a:srgbClr val="2D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5486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Plus Jakarta Sans"/>
              </a:defRPr>
            </a:pPr>
            <a:r>
              <a:t>Avaliar e ajustar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6446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lus Jakarta Sans"/>
              </a:defRPr>
            </a:pPr>
            <a:r>
              <a:t>Sistema de Curadoria Academica  |  Verticalis AI Journey  |  Confidencial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36576"/>
          </a:xfrm>
          <a:prstGeom prst="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D4C878"/>
                </a:solidFill>
                <a:latin typeface="Plus Jakarta Sans"/>
              </a:defRPr>
            </a:pPr>
            <a:r>
              <a:t>PROXIMOS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Lora"/>
              </a:defRPr>
            </a:pPr>
            <a:r>
              <a:t>Inteligencia que se constroi.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D4C878"/>
                </a:solidFill>
                <a:latin typeface="Lora"/>
              </a:defRPr>
            </a:pPr>
            <a:r>
              <a:t>Da estrutura ao primeiro draft em 30 dias.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97480"/>
            <a:ext cx="548640" cy="50292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163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B2823"/>
                </a:solidFill>
                <a:latin typeface="IBM Plex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Aprovar este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Revisar arvore, nomenclatura e agentes — ajustar ao seu 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337560"/>
            <a:ext cx="548640" cy="50292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564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B2823"/>
                </a:solidFill>
                <a:latin typeface="IBM Plex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832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Provisionar o Drive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57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Criar Mestrado-{Tema}/ com toda a arvore PARA. Drive for Desktop.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39"/>
            <a:ext cx="548640" cy="50292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9651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B2823"/>
                </a:solidFill>
                <a:latin typeface="IBM Plex Mono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23359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Aplicar questionario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976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voice-humanizer aplica os 21 itens. Voce envia 3 textos antigos.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617720"/>
            <a:ext cx="548640" cy="50292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365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B2823"/>
                </a:solidFill>
                <a:latin typeface="IBM Plex Mono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Rodar Sprint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37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5 fontes → validar → fichar → 5 notas atomicas linkadas.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257800"/>
            <a:ext cx="548640" cy="502920"/>
          </a:xfrm>
          <a:prstGeom prst="roundRect">
            <a:avLst/>
          </a:prstGeom>
          <a:solidFill>
            <a:srgbClr val="C5B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7667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B2823"/>
                </a:solidFill>
                <a:latin typeface="IBM Plex Mono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03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Avaliar e iterar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5778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Plus Jakarta Sans"/>
              </a:defRPr>
            </a:pPr>
            <a:r>
              <a:t>Apos primeira mini-secao, ajustar prompts dos agentes que falharem.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IBM Plex Mono"/>
              </a:defRPr>
            </a:pPr>
            <a:r>
              <a:t>docs/curadoria-conteudo-plano.md  •  agents/  •  memory/  •  scripts/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537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D4C878"/>
                </a:solidFill>
                <a:latin typeface="IBM Plex Mono"/>
              </a:defRPr>
            </a:pPr>
            <a:r>
              <a:t>Verticalis AI Journey  •  Education  •  Maio 2026  • 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